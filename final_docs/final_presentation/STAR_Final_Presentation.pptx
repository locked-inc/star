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63" r:id="rId3"/>
    <p:sldId id="264" r:id="rId4"/>
    <p:sldId id="265" r:id="rId5"/>
    <p:sldId id="261" r:id="rId6"/>
    <p:sldId id="266" r:id="rId7"/>
    <p:sldId id="269" r:id="rId8"/>
    <p:sldId id="267" r:id="rId9"/>
    <p:sldId id="268" r:id="rId10"/>
    <p:sldId id="260" r:id="rId11"/>
    <p:sldId id="258" r:id="rId12"/>
    <p:sldId id="257" r:id="rId13"/>
    <p:sldId id="270" r:id="rId14"/>
    <p:sldId id="262" r:id="rId15"/>
  </p:sldIdLst>
  <p:sldSz cx="12192000" cy="6858000"/>
  <p:notesSz cx="6858000" cy="9144000"/>
  <p:embeddedFontLst>
    <p:embeddedFont>
      <p:font typeface="Arial Black" panose="020B0604020202020204" pitchFamily="34" charset="0"/>
      <p:bold r:id="rId17"/>
    </p:embeddedFont>
    <p:embeddedFont>
      <p:font typeface="Arial Narrow" panose="020B0604020202020204" pitchFamily="34" charset="0"/>
      <p:regular r:id="rId18"/>
      <p:bold r:id="rId19"/>
      <p:italic r:id="rId20"/>
      <p:boldItalic r:id="rId21"/>
    </p:embeddedFont>
    <p:embeddedFont>
      <p:font typeface="Open Sans" panose="020B0606030504020204" pitchFamily="34" charset="0"/>
      <p:regular r:id="rId22"/>
      <p:bold r:id="rId23"/>
      <p:italic r:id="rId24"/>
      <p:boldItalic r:id="rId25"/>
    </p:embeddedFont>
    <p:embeddedFont>
      <p:font typeface="Open Sans ExtraBold" panose="020B0906030804020204" pitchFamily="34" charset="0"/>
      <p:bold r:id="rId26"/>
      <p:italic r:id="rId27"/>
      <p:boldItalic r:id="rId28"/>
    </p:embeddedFont>
    <p:embeddedFont>
      <p:font typeface="Open Sans ExtraBold" panose="020B0906030804020204" pitchFamily="34" charset="0"/>
      <p:bold r:id="rId26"/>
      <p:italic r:id="rId27"/>
      <p:boldItalic r:id="rId28"/>
    </p:embeddedFont>
    <p:embeddedFont>
      <p:font typeface="Oswald" pitchFamily="2" charset="77"/>
      <p:regular r:id="rId29"/>
      <p:bold r:id="rId30"/>
      <p:italic r:id="rId31"/>
      <p:boldItalic r:id="rId32"/>
    </p:embeddedFont>
    <p:embeddedFont>
      <p:font typeface="OSWALD MEDIUMITALIC" panose="02000603000000000000" pitchFamily="2" charset="77"/>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el7yHO2ytr50e6vkC5J+GYoAW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27"/>
    <p:restoredTop sz="94809"/>
  </p:normalViewPr>
  <p:slideViewPr>
    <p:cSldViewPr snapToGrid="0">
      <p:cViewPr>
        <p:scale>
          <a:sx n="214" d="100"/>
          <a:sy n="214" d="100"/>
        </p:scale>
        <p:origin x="4608"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font" Target="fonts/font9.fntdata"/><Relationship Id="rId26" Type="http://schemas.openxmlformats.org/officeDocument/2006/relationships/font" Target="fonts/font10.fntdata"/><Relationship Id="rId27" Type="http://schemas.openxmlformats.org/officeDocument/2006/relationships/font" Target="fonts/font11.fntdata"/><Relationship Id="rId28" Type="http://schemas.openxmlformats.org/officeDocument/2006/relationships/font" Target="fonts/font12.fntdata"/><Relationship Id="rId29" Type="http://schemas.openxmlformats.org/officeDocument/2006/relationships/font" Target="fonts/font13.fntdata"/><Relationship Id="rId30" Type="http://schemas.openxmlformats.org/officeDocument/2006/relationships/font" Target="fonts/font14.fntdata"/><Relationship Id="rId31" Type="http://schemas.openxmlformats.org/officeDocument/2006/relationships/font" Target="fonts/font15.fntdata"/><Relationship Id="rId32" Type="http://schemas.openxmlformats.org/officeDocument/2006/relationships/font" Target="fonts/font16.fntdata"/><Relationship Id="rId33" Type="http://schemas.openxmlformats.org/officeDocument/2006/relationships/font" Target="fonts/font17.fntdata"/><Relationship Id="rId34" Type="http://customschemas.google.com/relationships/presentationmetadata" Target="metadata"/><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Hello, we are Locked Inc. STAR is the Spatial Topography Accessibility Robot -- an autonomous indoor robot that audits buildings for ADA Title III compliance. Today we will walk you through the problem, our solution, the system architecture, validation results, and a live demo.</a:t>
            </a:r>
          </a:p>
        </p:txBody>
      </p:sp>
      <p:sp>
        <p:nvSpPr>
          <p:cNvPr id="73" name="Google Shape;7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federal civil penalty for a repeat ADA Title III violation is now $236,451 per occurrence as of the July 2025 Federal Register adjustment. In 2024 there were 8,800 federal Title III lawsuits filed. Manual audits by certified inspectors cost between $800 for a small store to over $50,000 for a campus, and take two to five days each. The economics push everything toward automation.</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Despite decades of legislation, 73% of public-facing facilities fail at least one ADA standard. 31 million Americans have mobility disabilities. Only 32% of property buyers ask about ADA at all. The audit gap is real and it is structural.</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Filings have stayed in the 8,000 to 11,500 per year band for seven years now. They peaked at 11,452 in 2021, fell, and rebounded to 8,800 in 2024 - a 7% jump - driven in part by the new Title II web accessibility deadlines for state and local entities. California is the clear leader with 3,252 filings; Texas had 224. Enforcement is not fading, it is becoming routine.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STAR is a multi-language stack. Hardware: a custom 6-layer PCB built around the Renesas RX72N for real-time motor control, a Pi 5 for autonomy, RPLiDAR C1 for 2D scan, stereo cameras for 3D, BNO055 IMU. Software: ROS 2 Jazzy for autonomy, slam_toolbox plus Nav2 for navigation, a Go gateway for telemetry, a Python compliance engine. Validation: 60 firmware Unity tests at 100% library coverage, 74% Go coverage gated at 65%, 14 ROS 2 tests, 12 pytest modules, plus formal manual PCB validation.</a:t>
            </a:r>
          </a:p>
        </p:txBody>
      </p:sp>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pipeline: sensors stream into the RX72N which closes motor loops at 250 Hz. The RX72N talks to the Pi 5 via a framed serial link - architected as SPI at 10 MHz with FEC and HARQ for production, but deployed for defense as a simpler USB-CDC ASCII bridge at 115,200 baud. The Pi 5 runs slam_toolbox, an EKF that fuses wheel odometry with the IMU, and Nav2 for path planning. The compliance engine sits on top, reads the fused map, and emits a PDF audit report.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Seven ADA geometric checks, mapped to three status tiers. Ramp slope is fully IMPLEMENTED with measured ground truth. Trip hazard and path width are STRETCH - scaffolding exists, full algorithm pending. The other four are ARCHITECTED: every node has a Python file in the repo, message schemas exist, but the geometric logic is empty.</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For the live demo: we start the robot in MANUAL mode from the Grafana cockpit. We hand it off to AUTONOMY, Nav2 takes over, and frontier exploration drives the robot into a hallway. As it approaches the ramp, the compliance engine fits a plane to the LiDAR returns using RANSAC and cross-validates that against the BNO055 IMU pitch. If the agreement is within 0.5 degrees and the slope exceeds 4.76 degrees, the engine flags a Title III violation and logs the ground-truth measurement to the audit report.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Validation in three layers. Software: 60 firmware Unity tests passing at 100% library coverage, 74% gateway coverage, 14 ROS 2 tests, 12 compliance pytest modules. Hardware: nine manual PCB validation checks, all passing first-pass, including motor free-spin and loaded-chassis with current measurements and scope-probed PWM. Field: we mapped 200 square feet of Thompson Hall on the Texas A&amp;M campus and detected two ADA compliance issues.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Total BOM is approximately $864 with the PCB run included - well under our $2000 capstone target. The biggest line is sensors at $270, then compute at $182, drivetrain at $144, power and chassis at about $100 each. For comparison, Daxbot, the closest commercial service, is $920,000 for 950 miles of surveying. STAR fits a completely different economic envelope.</a:t>
            </a:r>
          </a:p>
        </p:txBody>
      </p:sp>
      <p:sp>
        <p:nvSpPr>
          <p:cNvPr id="106" name="Google Shape;10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Now let us talk about who STAR helps and where it could go from here.</a:t>
            </a:r>
          </a:p>
        </p:txBody>
      </p:sp>
      <p:sp>
        <p:nvSpPr>
          <p:cNvPr id="90" name="Google Shape;9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Future work breaks down into four buckets. First, finish the architected ADA checks - the schemas exist, we just need the geometric algorithms. Second, fuse RGB-D and LiDAR via RTAB-Map for richer 3D reconstruction. Third, multi-floor support with elevator detection. Fourth, ML-driven fixture recognition for things like fire extinguishers and signage. And eventually, outdoor GPS+RTK so we can audit a whole campus, not just a single floor.</a:t>
            </a:r>
          </a:p>
        </p:txBody>
      </p:sp>
      <p:sp>
        <p:nvSpPr>
          <p:cNvPr id="84" name="Google Shape;8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We are happy to take questions. The team is six people. I am Cesar Magana, project manager and software lead. Brighton Sikarskie ran firmware, compliance engine, infra, and schematic. Jeremie Hockey did PCB layout. Michael Norton owned mechanical design. Shawn Ciaciura and Jared Bartz contributed schematic review. Source code is open at github.com/Locked-Inc/STAR.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9" descr="A building with a dome on the side  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9"/>
          <p:cNvSpPr/>
          <p:nvPr/>
        </p:nvSpPr>
        <p:spPr>
          <a:xfrm>
            <a:off x="789935" y="1402598"/>
            <a:ext cx="6858005" cy="2672810"/>
          </a:xfrm>
          <a:prstGeom prst="rect">
            <a:avLst/>
          </a:prstGeom>
          <a:solidFill>
            <a:srgbClr val="E9E4DD">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9"/>
          <p:cNvSpPr/>
          <p:nvPr/>
        </p:nvSpPr>
        <p:spPr>
          <a:xfrm>
            <a:off x="924555" y="1276669"/>
            <a:ext cx="6858005" cy="2672810"/>
          </a:xfrm>
          <a:prstGeom prst="rect">
            <a:avLst/>
          </a:prstGeom>
          <a:solidFill>
            <a:srgbClr val="5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9" name="Google Shape;19;p9"/>
          <p:cNvCxnSpPr/>
          <p:nvPr/>
        </p:nvCxnSpPr>
        <p:spPr>
          <a:xfrm>
            <a:off x="10852328" y="481472"/>
            <a:ext cx="398264" cy="0"/>
          </a:xfrm>
          <a:prstGeom prst="straightConnector1">
            <a:avLst/>
          </a:prstGeom>
          <a:noFill/>
          <a:ln w="44450" cap="flat" cmpd="sng">
            <a:solidFill>
              <a:schemeClr val="accent2"/>
            </a:solidFill>
            <a:prstDash val="solid"/>
            <a:miter lim="800000"/>
            <a:headEnd type="none" w="sm" len="sm"/>
            <a:tailEnd type="none" w="sm" len="sm"/>
          </a:ln>
        </p:spPr>
      </p:cxnSp>
      <p:grpSp>
        <p:nvGrpSpPr>
          <p:cNvPr id="20" name="Google Shape;20;p9"/>
          <p:cNvGrpSpPr/>
          <p:nvPr/>
        </p:nvGrpSpPr>
        <p:grpSpPr>
          <a:xfrm>
            <a:off x="-5" y="6390526"/>
            <a:ext cx="12192005" cy="471720"/>
            <a:chOff x="-5" y="6390526"/>
            <a:chExt cx="12192005" cy="471720"/>
          </a:xfrm>
        </p:grpSpPr>
        <p:sp>
          <p:nvSpPr>
            <p:cNvPr id="21" name="Google Shape;21;p9"/>
            <p:cNvSpPr/>
            <p:nvPr/>
          </p:nvSpPr>
          <p:spPr>
            <a:xfrm>
              <a:off x="1" y="6390526"/>
              <a:ext cx="12191999" cy="467475"/>
            </a:xfrm>
            <a:prstGeom prst="rect">
              <a:avLst/>
            </a:prstGeom>
            <a:solidFill>
              <a:srgbClr val="5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9"/>
            <p:cNvSpPr/>
            <p:nvPr/>
          </p:nvSpPr>
          <p:spPr>
            <a:xfrm>
              <a:off x="-5" y="6394773"/>
              <a:ext cx="2336806" cy="467473"/>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9"/>
            <p:cNvSpPr/>
            <p:nvPr/>
          </p:nvSpPr>
          <p:spPr>
            <a:xfrm rot="10800000">
              <a:off x="9855193" y="6394773"/>
              <a:ext cx="2336806" cy="467473"/>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24" name="Google Shape;24;p9"/>
          <p:cNvSpPr/>
          <p:nvPr/>
        </p:nvSpPr>
        <p:spPr>
          <a:xfrm>
            <a:off x="7771122" y="5486400"/>
            <a:ext cx="4168140" cy="1379978"/>
          </a:xfrm>
          <a:prstGeom prst="rect">
            <a:avLst/>
          </a:prstGeom>
          <a:solidFill>
            <a:srgbClr val="E9E4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sp>
        <p:nvSpPr>
          <p:cNvPr id="26" name="Google Shape;26;p10"/>
          <p:cNvSpPr/>
          <p:nvPr/>
        </p:nvSpPr>
        <p:spPr>
          <a:xfrm>
            <a:off x="619760" y="550743"/>
            <a:ext cx="690880" cy="8126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 name="Google Shape;27;p10"/>
          <p:cNvSpPr/>
          <p:nvPr/>
        </p:nvSpPr>
        <p:spPr>
          <a:xfrm>
            <a:off x="0" y="6190487"/>
            <a:ext cx="2919983" cy="671759"/>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 name="Google Shape;28;p10"/>
          <p:cNvPicPr preferRelativeResize="0"/>
          <p:nvPr/>
        </p:nvPicPr>
        <p:blipFill rotWithShape="1">
          <a:blip r:embed="rId2">
            <a:alphaModFix/>
          </a:blip>
          <a:srcRect/>
          <a:stretch/>
        </p:blipFill>
        <p:spPr>
          <a:xfrm>
            <a:off x="10999344" y="764211"/>
            <a:ext cx="699896" cy="574915"/>
          </a:xfrm>
          <a:prstGeom prst="rect">
            <a:avLst/>
          </a:prstGeom>
          <a:noFill/>
          <a:ln>
            <a:noFill/>
          </a:ln>
        </p:spPr>
      </p:pic>
      <p:sp>
        <p:nvSpPr>
          <p:cNvPr id="29" name="Google Shape;29;p10"/>
          <p:cNvSpPr/>
          <p:nvPr/>
        </p:nvSpPr>
        <p:spPr>
          <a:xfrm rot="10800000">
            <a:off x="9272016" y="4973"/>
            <a:ext cx="2919983" cy="671759"/>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sp>
        <p:nvSpPr>
          <p:cNvPr id="31" name="Google Shape;31;p11"/>
          <p:cNvSpPr/>
          <p:nvPr/>
        </p:nvSpPr>
        <p:spPr>
          <a:xfrm>
            <a:off x="0" y="221989"/>
            <a:ext cx="12192000" cy="6414022"/>
          </a:xfrm>
          <a:prstGeom prst="rect">
            <a:avLst/>
          </a:prstGeom>
          <a:blipFill rotWithShape="1">
            <a:blip r:embed="rId2">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 name="Google Shape;32;p11"/>
          <p:cNvSpPr/>
          <p:nvPr/>
        </p:nvSpPr>
        <p:spPr>
          <a:xfrm>
            <a:off x="2656558" y="2647945"/>
            <a:ext cx="6696000" cy="1205971"/>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 name="Google Shape;33;p11"/>
          <p:cNvSpPr/>
          <p:nvPr/>
        </p:nvSpPr>
        <p:spPr>
          <a:xfrm>
            <a:off x="2748000" y="2546346"/>
            <a:ext cx="6696000" cy="1205971"/>
          </a:xfrm>
          <a:prstGeom prst="rect">
            <a:avLst/>
          </a:prstGeom>
          <a:solidFill>
            <a:srgbClr val="5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4" name="Google Shape;34;p11"/>
          <p:cNvGrpSpPr/>
          <p:nvPr/>
        </p:nvGrpSpPr>
        <p:grpSpPr>
          <a:xfrm>
            <a:off x="-5" y="6631765"/>
            <a:ext cx="12192005" cy="226235"/>
            <a:chOff x="-5" y="6390526"/>
            <a:chExt cx="12192005" cy="471720"/>
          </a:xfrm>
        </p:grpSpPr>
        <p:sp>
          <p:nvSpPr>
            <p:cNvPr id="35" name="Google Shape;35;p11"/>
            <p:cNvSpPr/>
            <p:nvPr/>
          </p:nvSpPr>
          <p:spPr>
            <a:xfrm>
              <a:off x="1" y="6390526"/>
              <a:ext cx="12191999" cy="467475"/>
            </a:xfrm>
            <a:prstGeom prst="rect">
              <a:avLst/>
            </a:prstGeom>
            <a:solidFill>
              <a:srgbClr val="5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 name="Google Shape;36;p11"/>
            <p:cNvSpPr/>
            <p:nvPr/>
          </p:nvSpPr>
          <p:spPr>
            <a:xfrm>
              <a:off x="-5" y="6394773"/>
              <a:ext cx="2336806" cy="467473"/>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 name="Google Shape;37;p11"/>
            <p:cNvSpPr/>
            <p:nvPr/>
          </p:nvSpPr>
          <p:spPr>
            <a:xfrm rot="10800000">
              <a:off x="9855193" y="6394773"/>
              <a:ext cx="2336806" cy="467473"/>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38" name="Google Shape;38;p11"/>
          <p:cNvGrpSpPr/>
          <p:nvPr/>
        </p:nvGrpSpPr>
        <p:grpSpPr>
          <a:xfrm>
            <a:off x="-5" y="0"/>
            <a:ext cx="12192005" cy="226235"/>
            <a:chOff x="-5" y="6390526"/>
            <a:chExt cx="12192005" cy="471720"/>
          </a:xfrm>
        </p:grpSpPr>
        <p:sp>
          <p:nvSpPr>
            <p:cNvPr id="39" name="Google Shape;39;p11"/>
            <p:cNvSpPr/>
            <p:nvPr/>
          </p:nvSpPr>
          <p:spPr>
            <a:xfrm>
              <a:off x="1" y="6390526"/>
              <a:ext cx="12191999" cy="467475"/>
            </a:xfrm>
            <a:prstGeom prst="rect">
              <a:avLst/>
            </a:prstGeom>
            <a:solidFill>
              <a:srgbClr val="5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11"/>
            <p:cNvSpPr/>
            <p:nvPr/>
          </p:nvSpPr>
          <p:spPr>
            <a:xfrm>
              <a:off x="-5" y="6394773"/>
              <a:ext cx="2336806" cy="467473"/>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11"/>
            <p:cNvSpPr/>
            <p:nvPr/>
          </p:nvSpPr>
          <p:spPr>
            <a:xfrm rot="10800000">
              <a:off x="9855193" y="6394773"/>
              <a:ext cx="2336806" cy="467473"/>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2"/>
        <p:cNvGrpSpPr/>
        <p:nvPr/>
      </p:nvGrpSpPr>
      <p:grpSpPr>
        <a:xfrm>
          <a:off x="0" y="0"/>
          <a:ext cx="0" cy="0"/>
          <a:chOff x="0" y="0"/>
          <a:chExt cx="0" cy="0"/>
        </a:xfrm>
      </p:grpSpPr>
      <p:sp>
        <p:nvSpPr>
          <p:cNvPr id="43" name="Google Shape;43;p12"/>
          <p:cNvSpPr/>
          <p:nvPr/>
        </p:nvSpPr>
        <p:spPr>
          <a:xfrm>
            <a:off x="619760" y="550743"/>
            <a:ext cx="690880" cy="8126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6B6B6"/>
              </a:solidFill>
              <a:latin typeface="Calibri"/>
              <a:ea typeface="Calibri"/>
              <a:cs typeface="Calibri"/>
              <a:sym typeface="Calibri"/>
            </a:endParaRPr>
          </a:p>
        </p:txBody>
      </p:sp>
      <p:pic>
        <p:nvPicPr>
          <p:cNvPr id="44" name="Google Shape;44;p12"/>
          <p:cNvPicPr preferRelativeResize="0"/>
          <p:nvPr/>
        </p:nvPicPr>
        <p:blipFill rotWithShape="1">
          <a:blip r:embed="rId2">
            <a:alphaModFix/>
          </a:blip>
          <a:srcRect/>
          <a:stretch/>
        </p:blipFill>
        <p:spPr>
          <a:xfrm>
            <a:off x="10999344" y="764211"/>
            <a:ext cx="699896" cy="574915"/>
          </a:xfrm>
          <a:prstGeom prst="rect">
            <a:avLst/>
          </a:prstGeom>
          <a:noFill/>
          <a:ln>
            <a:noFill/>
          </a:ln>
        </p:spPr>
      </p:pic>
      <p:sp>
        <p:nvSpPr>
          <p:cNvPr id="45" name="Google Shape;45;p12"/>
          <p:cNvSpPr/>
          <p:nvPr/>
        </p:nvSpPr>
        <p:spPr>
          <a:xfrm>
            <a:off x="5659108" y="2091759"/>
            <a:ext cx="6172198" cy="4115209"/>
          </a:xfrm>
          <a:prstGeom prst="rect">
            <a:avLst/>
          </a:prstGeom>
          <a:solidFill>
            <a:srgbClr val="E9E4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 name="Google Shape;46;p12"/>
          <p:cNvSpPr>
            <a:spLocks noGrp="1"/>
          </p:cNvSpPr>
          <p:nvPr>
            <p:ph type="pic" idx="2"/>
          </p:nvPr>
        </p:nvSpPr>
        <p:spPr>
          <a:xfrm>
            <a:off x="5557838" y="1990725"/>
            <a:ext cx="6172200" cy="41148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7"/>
        <p:cNvGrpSpPr/>
        <p:nvPr/>
      </p:nvGrpSpPr>
      <p:grpSpPr>
        <a:xfrm>
          <a:off x="0" y="0"/>
          <a:ext cx="0" cy="0"/>
          <a:chOff x="0" y="0"/>
          <a:chExt cx="0" cy="0"/>
        </a:xfrm>
      </p:grpSpPr>
      <p:sp>
        <p:nvSpPr>
          <p:cNvPr id="48" name="Google Shape;48;p13"/>
          <p:cNvSpPr/>
          <p:nvPr/>
        </p:nvSpPr>
        <p:spPr>
          <a:xfrm>
            <a:off x="0" y="10176"/>
            <a:ext cx="12191999" cy="6857998"/>
          </a:xfrm>
          <a:prstGeom prst="rect">
            <a:avLst/>
          </a:prstGeom>
          <a:solidFill>
            <a:srgbClr val="4F081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Google Shape;49;p13"/>
          <p:cNvSpPr/>
          <p:nvPr/>
        </p:nvSpPr>
        <p:spPr>
          <a:xfrm>
            <a:off x="619760" y="550743"/>
            <a:ext cx="690880" cy="8126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13"/>
          <p:cNvSpPr/>
          <p:nvPr/>
        </p:nvSpPr>
        <p:spPr>
          <a:xfrm>
            <a:off x="0" y="6190487"/>
            <a:ext cx="2919983" cy="671759"/>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1" name="Google Shape;51;p13"/>
          <p:cNvPicPr preferRelativeResize="0"/>
          <p:nvPr/>
        </p:nvPicPr>
        <p:blipFill rotWithShape="1">
          <a:blip r:embed="rId2">
            <a:alphaModFix/>
          </a:blip>
          <a:srcRect/>
          <a:stretch/>
        </p:blipFill>
        <p:spPr>
          <a:xfrm>
            <a:off x="10999344" y="764211"/>
            <a:ext cx="699896" cy="574915"/>
          </a:xfrm>
          <a:prstGeom prst="rect">
            <a:avLst/>
          </a:prstGeom>
          <a:noFill/>
          <a:ln>
            <a:noFill/>
          </a:ln>
        </p:spPr>
      </p:pic>
      <p:sp>
        <p:nvSpPr>
          <p:cNvPr id="52" name="Google Shape;52;p13"/>
          <p:cNvSpPr/>
          <p:nvPr/>
        </p:nvSpPr>
        <p:spPr>
          <a:xfrm rot="10800000">
            <a:off x="9272016" y="4973"/>
            <a:ext cx="2919983" cy="671759"/>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 name="Google Shape;53;p13"/>
          <p:cNvSpPr/>
          <p:nvPr/>
        </p:nvSpPr>
        <p:spPr>
          <a:xfrm>
            <a:off x="962482" y="1802355"/>
            <a:ext cx="3150971" cy="4115209"/>
          </a:xfrm>
          <a:prstGeom prst="rect">
            <a:avLst/>
          </a:prstGeom>
          <a:solidFill>
            <a:srgbClr val="E9E4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 name="Google Shape;54;p13"/>
          <p:cNvSpPr/>
          <p:nvPr/>
        </p:nvSpPr>
        <p:spPr>
          <a:xfrm>
            <a:off x="4520514" y="1802355"/>
            <a:ext cx="3150971" cy="4115209"/>
          </a:xfrm>
          <a:prstGeom prst="rect">
            <a:avLst/>
          </a:prstGeom>
          <a:solidFill>
            <a:srgbClr val="E9E4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 name="Google Shape;55;p13"/>
          <p:cNvSpPr/>
          <p:nvPr/>
        </p:nvSpPr>
        <p:spPr>
          <a:xfrm>
            <a:off x="8077530" y="1802355"/>
            <a:ext cx="3150971" cy="4115209"/>
          </a:xfrm>
          <a:prstGeom prst="rect">
            <a:avLst/>
          </a:prstGeom>
          <a:solidFill>
            <a:srgbClr val="E9E4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 name="Google Shape;56;p13"/>
          <p:cNvSpPr>
            <a:spLocks noGrp="1"/>
          </p:cNvSpPr>
          <p:nvPr>
            <p:ph type="pic" idx="2"/>
          </p:nvPr>
        </p:nvSpPr>
        <p:spPr>
          <a:xfrm>
            <a:off x="1169542" y="4265588"/>
            <a:ext cx="2743200" cy="1371600"/>
          </a:xfrm>
          <a:prstGeom prst="rect">
            <a:avLst/>
          </a:prstGeom>
          <a:noFill/>
          <a:ln>
            <a:noFill/>
          </a:ln>
        </p:spPr>
      </p:sp>
      <p:sp>
        <p:nvSpPr>
          <p:cNvPr id="57" name="Google Shape;57;p13"/>
          <p:cNvSpPr>
            <a:spLocks noGrp="1"/>
          </p:cNvSpPr>
          <p:nvPr>
            <p:ph type="pic" idx="3"/>
          </p:nvPr>
        </p:nvSpPr>
        <p:spPr>
          <a:xfrm>
            <a:off x="4722440" y="4265588"/>
            <a:ext cx="2743200" cy="1371600"/>
          </a:xfrm>
          <a:prstGeom prst="rect">
            <a:avLst/>
          </a:prstGeom>
          <a:noFill/>
          <a:ln>
            <a:noFill/>
          </a:ln>
        </p:spPr>
      </p:sp>
      <p:sp>
        <p:nvSpPr>
          <p:cNvPr id="58" name="Google Shape;58;p13"/>
          <p:cNvSpPr>
            <a:spLocks noGrp="1"/>
          </p:cNvSpPr>
          <p:nvPr>
            <p:ph type="pic" idx="4"/>
          </p:nvPr>
        </p:nvSpPr>
        <p:spPr>
          <a:xfrm>
            <a:off x="8282317" y="4265588"/>
            <a:ext cx="2743200" cy="13716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9"/>
        <p:cNvGrpSpPr/>
        <p:nvPr/>
      </p:nvGrpSpPr>
      <p:grpSpPr>
        <a:xfrm>
          <a:off x="0" y="0"/>
          <a:ext cx="0" cy="0"/>
          <a:chOff x="0" y="0"/>
          <a:chExt cx="0" cy="0"/>
        </a:xfrm>
      </p:grpSpPr>
      <p:sp>
        <p:nvSpPr>
          <p:cNvPr id="60" name="Google Shape;60;p14"/>
          <p:cNvSpPr/>
          <p:nvPr/>
        </p:nvSpPr>
        <p:spPr>
          <a:xfrm>
            <a:off x="-3" y="4246"/>
            <a:ext cx="12191999" cy="6858000"/>
          </a:xfrm>
          <a:prstGeom prst="rect">
            <a:avLst/>
          </a:prstGeom>
          <a:solidFill>
            <a:srgbClr val="4F081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 name="Google Shape;61;p14"/>
          <p:cNvSpPr/>
          <p:nvPr/>
        </p:nvSpPr>
        <p:spPr>
          <a:xfrm>
            <a:off x="0" y="6190487"/>
            <a:ext cx="2919983" cy="671759"/>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2" name="Google Shape;62;p14"/>
          <p:cNvPicPr preferRelativeResize="0"/>
          <p:nvPr/>
        </p:nvPicPr>
        <p:blipFill rotWithShape="1">
          <a:blip r:embed="rId2">
            <a:alphaModFix/>
          </a:blip>
          <a:srcRect/>
          <a:stretch/>
        </p:blipFill>
        <p:spPr>
          <a:xfrm>
            <a:off x="5612642" y="2199345"/>
            <a:ext cx="966715" cy="794088"/>
          </a:xfrm>
          <a:prstGeom prst="rect">
            <a:avLst/>
          </a:prstGeom>
          <a:noFill/>
          <a:ln>
            <a:noFill/>
          </a:ln>
        </p:spPr>
      </p:pic>
      <p:sp>
        <p:nvSpPr>
          <p:cNvPr id="63" name="Google Shape;63;p14"/>
          <p:cNvSpPr/>
          <p:nvPr/>
        </p:nvSpPr>
        <p:spPr>
          <a:xfrm rot="10800000">
            <a:off x="9272016" y="4972"/>
            <a:ext cx="2919983" cy="671759"/>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92;p3">
            <a:extLst>
              <a:ext uri="{FF2B5EF4-FFF2-40B4-BE49-F238E27FC236}">
                <a16:creationId xmlns:a16="http://schemas.microsoft.com/office/drawing/2014/main" id="{1790EC00-2690-1577-1597-5E973032B908}"/>
              </a:ext>
            </a:extLst>
          </p:cNvPr>
          <p:cNvSpPr txBox="1"/>
          <p:nvPr userDrawn="1"/>
        </p:nvSpPr>
        <p:spPr>
          <a:xfrm>
            <a:off x="2747999" y="3229066"/>
            <a:ext cx="6696001" cy="790568"/>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5400"/>
              <a:buFont typeface="Oswald"/>
              <a:buNone/>
            </a:pPr>
            <a:r>
              <a:rPr lang="en-US" sz="5400" b="1" i="1" dirty="0">
                <a:solidFill>
                  <a:schemeClr val="bg1"/>
                </a:solidFill>
                <a:latin typeface="Arial Narrow" panose="020B0604020202020204" pitchFamily="34" charset="0"/>
                <a:ea typeface="Oswald"/>
                <a:cs typeface="Arial Narrow" panose="020B0604020202020204" pitchFamily="34" charset="0"/>
                <a:sym typeface="Oswald"/>
              </a:rPr>
              <a:t>THANK YOU</a:t>
            </a:r>
            <a:endParaRPr lang="en-US" b="1" i="1" dirty="0">
              <a:solidFill>
                <a:schemeClr val="bg1"/>
              </a:solidFill>
              <a:latin typeface="Arial Narrow" panose="020B0604020202020204" pitchFamily="34" charset="0"/>
              <a:cs typeface="Arial Narrow"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b="1" i="0">
                <a:latin typeface="Arial Black" panose="020B0604020202020204" pitchFamily="34" charset="0"/>
                <a:cs typeface="Arial Black"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7" name="Google Shape;67;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B6B6B6"/>
              </a:buClr>
              <a:buSzPts val="2400"/>
              <a:buNone/>
              <a:defRPr sz="2400" b="0" i="0">
                <a:solidFill>
                  <a:schemeClr val="tx2"/>
                </a:solidFill>
                <a:latin typeface="Arial" panose="020B0604020202020204" pitchFamily="34" charset="0"/>
                <a:cs typeface="Arial" panose="020B0604020202020204" pitchFamily="34" charset="0"/>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68" name="Google Shape;68;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B6B6B6"/>
              </a:buClr>
              <a:buSzPts val="1800"/>
              <a:buChar char="•"/>
              <a:defRPr b="0" i="0">
                <a:solidFill>
                  <a:schemeClr val="tx2"/>
                </a:solidFill>
                <a:latin typeface="Arial" panose="020B0604020202020204" pitchFamily="34" charset="0"/>
                <a:cs typeface="Arial" panose="020B0604020202020204" pitchFamily="34" charset="0"/>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B6B6B6"/>
              </a:buClr>
              <a:buSzPts val="2400"/>
              <a:buNone/>
              <a:defRPr sz="2400" b="0" i="0">
                <a:solidFill>
                  <a:schemeClr val="tx2"/>
                </a:solidFill>
                <a:latin typeface="Arial" panose="020B0604020202020204" pitchFamily="34" charset="0"/>
                <a:cs typeface="Arial" panose="020B0604020202020204" pitchFamily="34" charset="0"/>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0" name="Google Shape;70;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B6B6B6"/>
              </a:buClr>
              <a:buSzPts val="1800"/>
              <a:buChar char="•"/>
              <a:defRPr b="0" i="0">
                <a:solidFill>
                  <a:schemeClr val="tx2"/>
                </a:solidFill>
                <a:latin typeface="Arial" panose="020B0604020202020204" pitchFamily="34" charset="0"/>
                <a:cs typeface="Arial" panose="020B0604020202020204" pitchFamily="34" charset="0"/>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p:nvPr/>
        </p:nvSpPr>
        <p:spPr>
          <a:xfrm>
            <a:off x="-3" y="4246"/>
            <a:ext cx="12191999" cy="6858000"/>
          </a:xfrm>
          <a:prstGeom prst="rect">
            <a:avLst/>
          </a:prstGeom>
          <a:solidFill>
            <a:srgbClr val="4F081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1;p8"/>
          <p:cNvSpPr/>
          <p:nvPr/>
        </p:nvSpPr>
        <p:spPr>
          <a:xfrm>
            <a:off x="0" y="6190487"/>
            <a:ext cx="2919983" cy="671759"/>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 name="Google Shape;12;p8"/>
          <p:cNvSpPr/>
          <p:nvPr/>
        </p:nvSpPr>
        <p:spPr>
          <a:xfrm rot="10800000">
            <a:off x="9272016" y="4972"/>
            <a:ext cx="2919983" cy="671759"/>
          </a:xfrm>
          <a:prstGeom prst="rtTriangle">
            <a:avLst/>
          </a:prstGeom>
          <a:solidFill>
            <a:srgbClr val="3C0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Open Sans ExtraBold"/>
              <a:buNone/>
              <a:defRPr sz="4400" b="1" i="0" u="none" strike="noStrike" cap="none">
                <a:solidFill>
                  <a:schemeClr val="lt1"/>
                </a:solidFill>
                <a:latin typeface="Open Sans Extrabold"/>
                <a:ea typeface="Open Sans Extrabold"/>
                <a:cs typeface="Open Sans Extrabold"/>
                <a:sym typeface="Open Sans Extra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4" name="Google Shape;14;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B6B6B6"/>
              </a:buClr>
              <a:buSzPts val="2800"/>
              <a:buFont typeface="Arial"/>
              <a:buChar char="•"/>
              <a:defRPr sz="2800" b="1" i="0" u="none" strike="noStrike" cap="none">
                <a:solidFill>
                  <a:srgbClr val="B6B6B6"/>
                </a:solidFill>
                <a:latin typeface="Open Sans"/>
                <a:ea typeface="Open Sans"/>
                <a:cs typeface="Open Sans"/>
                <a:sym typeface="Open Sans"/>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rgbClr val="000000"/>
          </a:solidFill>
          <a:latin typeface="Arial Black" panose="020B0604020202020204" pitchFamily="34" charset="0"/>
          <a:ea typeface="Arial Black" panose="020B0604020202020204" pitchFamily="34" charset="0"/>
          <a:cs typeface="Arial Black"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
          <p:cNvSpPr txBox="1"/>
          <p:nvPr/>
        </p:nvSpPr>
        <p:spPr>
          <a:xfrm>
            <a:off x="1330301" y="2186244"/>
            <a:ext cx="6131184" cy="12473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6500"/>
              <a:buFont typeface="Open Sans ExtraBold"/>
              <a:buNone/>
            </a:pPr>
            <a:r>
              <a:rPr lang="en-US" sz="3600" b="1" i="1" u="none" strike="noStrike" cap="none" dirty="0">
                <a:solidFill>
                  <a:schemeClr val="lt1"/>
                </a:solidFill>
                <a:latin typeface="Arial Black" panose="020B0604020202020204" pitchFamily="34" charset="0"/>
                <a:ea typeface="Open Sans ExtraBold"/>
                <a:cs typeface="Arial Black" panose="020B0604020202020204" pitchFamily="34" charset="0"/>
                <a:sym typeface="Open Sans ExtraBold"/>
              </a:rPr>
              <a:t>Spatial Topography</a:t>
            </a:r>
            <a:endParaRPr b="1" i="1" dirty="0">
              <a:latin typeface="Arial Black" panose="020B0604020202020204" pitchFamily="34" charset="0"/>
              <a:cs typeface="Arial Black" panose="020B0604020202020204" pitchFamily="34" charset="0"/>
            </a:endParaRPr>
          </a:p>
          <a:p>
            <a:pPr marL="0" marR="0" lvl="0" indent="0" algn="l" rtl="0">
              <a:lnSpc>
                <a:spcPct val="90000"/>
              </a:lnSpc>
              <a:spcBef>
                <a:spcPts val="0"/>
              </a:spcBef>
              <a:spcAft>
                <a:spcPts val="0"/>
              </a:spcAft>
              <a:buClr>
                <a:schemeClr val="lt1"/>
              </a:buClr>
              <a:buSzPts val="6500"/>
              <a:buFont typeface="Open Sans ExtraBold"/>
              <a:buNone/>
            </a:pPr>
            <a:r>
              <a:rPr lang="en-US" sz="3600" b="1" i="1" u="none" strike="noStrike" cap="none" dirty="0">
                <a:solidFill>
                  <a:schemeClr val="lt1"/>
                </a:solidFill>
                <a:latin typeface="Arial Black" panose="020B0604020202020204" pitchFamily="34" charset="0"/>
                <a:ea typeface="Open Sans ExtraBold"/>
                <a:cs typeface="Arial Black" panose="020B0604020202020204" pitchFamily="34" charset="0"/>
                <a:sym typeface="Open Sans ExtraBold"/>
              </a:rPr>
              <a:t>Accessibility Robot</a:t>
            </a:r>
            <a:endParaRPr b="1" i="1" dirty="0">
              <a:latin typeface="Arial Black" panose="020B0604020202020204" pitchFamily="34" charset="0"/>
              <a:cs typeface="Arial Black" panose="020B0604020202020204" pitchFamily="34" charset="0"/>
            </a:endParaRPr>
          </a:p>
        </p:txBody>
      </p:sp>
      <p:sp>
        <p:nvSpPr>
          <p:cNvPr id="76" name="Google Shape;76;p1"/>
          <p:cNvSpPr txBox="1"/>
          <p:nvPr/>
        </p:nvSpPr>
        <p:spPr>
          <a:xfrm>
            <a:off x="1344042" y="1603897"/>
            <a:ext cx="4247472" cy="99061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6500"/>
              <a:buFont typeface="Open Sans ExtraBold"/>
              <a:buNone/>
            </a:pPr>
            <a:r>
              <a:rPr lang="en-US" sz="6500" b="1" i="1" u="none" strike="noStrike" cap="none" dirty="0">
                <a:solidFill>
                  <a:schemeClr val="lt1"/>
                </a:solidFill>
                <a:latin typeface="Arial Black" panose="020B0604020202020204" pitchFamily="34" charset="0"/>
                <a:ea typeface="Open Sans ExtraBold"/>
                <a:cs typeface="Arial Black" panose="020B0604020202020204" pitchFamily="34" charset="0"/>
                <a:sym typeface="Open Sans ExtraBold"/>
              </a:rPr>
              <a:t>STAR</a:t>
            </a:r>
            <a:endParaRPr b="1" i="1" dirty="0">
              <a:latin typeface="Arial Black" panose="020B0604020202020204" pitchFamily="34" charset="0"/>
              <a:cs typeface="Arial Black" panose="020B0604020202020204" pitchFamily="34" charset="0"/>
            </a:endParaRPr>
          </a:p>
        </p:txBody>
      </p:sp>
      <p:sp>
        <p:nvSpPr>
          <p:cNvPr id="77" name="Google Shape;77;p1"/>
          <p:cNvSpPr txBox="1"/>
          <p:nvPr/>
        </p:nvSpPr>
        <p:spPr>
          <a:xfrm>
            <a:off x="10772824" y="553380"/>
            <a:ext cx="121703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u="none" strike="noStrike" cap="none" dirty="0">
                <a:solidFill>
                  <a:schemeClr val="lt1"/>
                </a:solidFill>
                <a:latin typeface="OSWALD MEDIUMITALIC" panose="02000603000000000000" pitchFamily="2" charset="77"/>
                <a:ea typeface="Oswald"/>
                <a:cs typeface="Oswald"/>
                <a:sym typeface="Oswald"/>
              </a:rPr>
              <a:t>Apr 28, 2026</a:t>
            </a:r>
            <a:endParaRPr i="1" dirty="0">
              <a:latin typeface="OSWALD MEDIUMITALIC" panose="02000603000000000000" pitchFamily="2" charset="77"/>
            </a:endParaRPr>
          </a:p>
        </p:txBody>
      </p:sp>
      <p:sp>
        <p:nvSpPr>
          <p:cNvPr id="78" name="Google Shape;78;p1"/>
          <p:cNvSpPr txBox="1"/>
          <p:nvPr/>
        </p:nvSpPr>
        <p:spPr>
          <a:xfrm>
            <a:off x="1330301" y="3340915"/>
            <a:ext cx="5446419" cy="450338"/>
          </a:xfrm>
          <a:prstGeom prst="rect">
            <a:avLst/>
          </a:prstGeom>
          <a:noFill/>
          <a:ln>
            <a:noFill/>
          </a:ln>
        </p:spPr>
        <p:txBody>
          <a:bodyPr spcFirstLastPara="1" wrap="square" lIns="91425" tIns="45700" rIns="91425" bIns="45700" anchor="t" anchorCtr="0">
            <a:normAutofit fontScale="77500" lnSpcReduction="20000"/>
          </a:bodyPr>
          <a:lstStyle/>
          <a:p>
            <a:pPr marL="0" marR="0" lvl="0" indent="0" algn="l" rtl="0">
              <a:lnSpc>
                <a:spcPct val="175000"/>
              </a:lnSpc>
              <a:spcBef>
                <a:spcPts val="0"/>
              </a:spcBef>
              <a:spcAft>
                <a:spcPts val="0"/>
              </a:spcAft>
              <a:buClr>
                <a:schemeClr val="lt1"/>
              </a:buClr>
              <a:buSzPts val="1600"/>
              <a:buFont typeface="Arial"/>
              <a:buNone/>
            </a:pPr>
            <a:r>
              <a:rPr lang="en-US" sz="1600" b="1" u="none" spc="300" dirty="0">
                <a:solidFill>
                  <a:schemeClr val="lt1"/>
                </a:solidFill>
                <a:latin typeface="Arial Black" panose="020B0604020202020204" pitchFamily="34" charset="0"/>
                <a:ea typeface="Open Sans Extrabold"/>
                <a:cs typeface="Arial Black" panose="020B0604020202020204" pitchFamily="34" charset="0"/>
                <a:sym typeface="Open Sans ExtraBold"/>
              </a:rPr>
              <a:t>Locked Inc.  ESET 420  Dr. Logan Porter</a:t>
            </a:r>
            <a:endParaRPr lang="en-US" b="1" spc="300" dirty="0">
              <a:latin typeface="Arial Black" panose="020B0604020202020204" pitchFamily="34" charset="0"/>
              <a:cs typeface="Arial Black" panose="020B0604020202020204" pitchFamily="34" charset="0"/>
            </a:endParaRPr>
          </a:p>
        </p:txBody>
      </p:sp>
      <p:grpSp>
        <p:nvGrpSpPr>
          <p:cNvPr id="79" name="Google Shape;79;p1"/>
          <p:cNvGrpSpPr/>
          <p:nvPr/>
        </p:nvGrpSpPr>
        <p:grpSpPr>
          <a:xfrm>
            <a:off x="7970038" y="5679556"/>
            <a:ext cx="3222430" cy="993665"/>
            <a:chOff x="7746344" y="4845962"/>
            <a:chExt cx="4199233" cy="1294871"/>
          </a:xfrm>
        </p:grpSpPr>
        <p:pic>
          <p:nvPicPr>
            <p:cNvPr id="80" name="Google Shape;80;p1"/>
            <p:cNvPicPr preferRelativeResize="0"/>
            <p:nvPr/>
          </p:nvPicPr>
          <p:blipFill rotWithShape="1">
            <a:blip r:embed="rId3">
              <a:alphaModFix/>
            </a:blip>
            <a:srcRect l="32270"/>
            <a:stretch/>
          </p:blipFill>
          <p:spPr>
            <a:xfrm>
              <a:off x="9211396" y="4919472"/>
              <a:ext cx="2734181" cy="1180917"/>
            </a:xfrm>
            <a:prstGeom prst="rect">
              <a:avLst/>
            </a:prstGeom>
            <a:noFill/>
            <a:ln>
              <a:noFill/>
            </a:ln>
          </p:spPr>
        </p:pic>
        <p:pic>
          <p:nvPicPr>
            <p:cNvPr id="81" name="Google Shape;81;p1"/>
            <p:cNvPicPr preferRelativeResize="0"/>
            <p:nvPr/>
          </p:nvPicPr>
          <p:blipFill rotWithShape="1">
            <a:blip r:embed="rId4">
              <a:alphaModFix/>
            </a:blip>
            <a:srcRect/>
            <a:stretch/>
          </p:blipFill>
          <p:spPr>
            <a:xfrm>
              <a:off x="7746344" y="4845962"/>
              <a:ext cx="1465053" cy="1294871"/>
            </a:xfrm>
            <a:prstGeom prst="rect">
              <a:avLst/>
            </a:prstGeom>
            <a:noFill/>
            <a:ln>
              <a:noFill/>
            </a:ln>
          </p:spPr>
        </p:pic>
      </p:grpSp>
      <p:sp>
        <p:nvSpPr>
          <p:cNvPr id="82" name="Rectangle 81"/>
          <p:cNvSpPr/>
          <p:nvPr/>
        </p:nvSpPr>
        <p:spPr>
          <a:xfrm>
            <a:off x="9098280" y="5760720"/>
            <a:ext cx="2103120" cy="868680"/>
          </a:xfrm>
          <a:prstGeom prst="rect">
            <a:avLst/>
          </a:prstGeom>
          <a:solidFill>
            <a:srgbClr val="FA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098280" y="5760720"/>
            <a:ext cx="2103120" cy="868680"/>
          </a:xfrm>
          <a:prstGeom prst="rect">
            <a:avLst/>
          </a:prstGeom>
          <a:noFill/>
        </p:spPr>
        <p:txBody>
          <a:bodyPr wrap="square" anchor="ctr">
            <a:spAutoFit/>
          </a:bodyPr>
          <a:lstStyle/>
          <a:p>
            <a:pPr algn="ctr"/>
            <a:r>
              <a:rPr sz="1200" b="1">
                <a:solidFill>
                  <a:srgbClr val="500000"/>
                </a:solidFill>
                <a:latin typeface="Arial"/>
              </a:rPr>
              <a:t>Texas A&amp;M University</a:t>
            </a:r>
          </a:p>
          <a:p>
            <a:pPr algn="ctr"/>
            <a:r>
              <a:rPr sz="1200" b="0">
                <a:solidFill>
                  <a:srgbClr val="500000"/>
                </a:solidFill>
                <a:latin typeface="Arial"/>
              </a:rPr>
              <a:t>ESET Senior Capstone, Spring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5"/>
          <p:cNvSpPr txBox="1"/>
          <p:nvPr/>
        </p:nvSpPr>
        <p:spPr>
          <a:xfrm>
            <a:off x="823746" y="1990159"/>
            <a:ext cx="4357854" cy="4115209"/>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1000"/>
              </a:spcBef>
              <a:spcAft>
                <a:spcPts val="0"/>
              </a:spcAft>
              <a:buClr>
                <a:schemeClr val="lt1"/>
              </a:buClr>
              <a:buSzPts val="2000"/>
              <a:buFont typeface="Arial"/>
              <a:buNone/>
            </a:pPr>
            <a:r>
              <a:rPr lang="en-US" sz="1800" dirty="0">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Federal civil penalty per repeat ADA violation, after the July 2025 Federal Register inflation adjustment.</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800" dirty="0">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8,800 federal Title III lawsuits were filed in 2024 (Seyfarth Shaw tracker), continuing a sustained 9k-11k baseline since 2018.</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800" dirty="0">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Manual audits cost $800-$50,000+ per facility and take days. The math does not close.</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110" name="Google Shape;110;p5"/>
          <p:cNvSpPr txBox="1"/>
          <p:nvPr/>
        </p:nvSpPr>
        <p:spPr>
          <a:xfrm>
            <a:off x="492760" y="554989"/>
            <a:ext cx="8393663"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$236,451 per door</a:t>
            </a:r>
            <a:endParaRPr b="1" i="1" dirty="0">
              <a:latin typeface="Arial Black" panose="020B0604020202020204" pitchFamily="34" charset="0"/>
              <a:cs typeface="Arial Black" panose="020B0604020202020204" pitchFamily="34" charset="0"/>
            </a:endParaRPr>
          </a:p>
        </p:txBody>
      </p:sp>
      <p:sp>
        <p:nvSpPr>
          <p:cNvPr id="111" name="Rectangle 110"/>
          <p:cNvSpPr/>
          <p:nvPr/>
        </p:nvSpPr>
        <p:spPr>
          <a:xfrm>
            <a:off x="5557838" y="1990725"/>
            <a:ext cx="6172200" cy="4114800"/>
          </a:xfrm>
          <a:prstGeom prst="rect">
            <a:avLst/>
          </a:prstGeom>
          <a:solidFill>
            <a:srgbClr val="FA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5557838" y="1990725"/>
            <a:ext cx="6172200" cy="4114800"/>
          </a:xfrm>
          <a:prstGeom prst="rect">
            <a:avLst/>
          </a:prstGeom>
          <a:noFill/>
        </p:spPr>
        <p:txBody>
          <a:bodyPr wrap="square" lIns="365760" tIns="457200" rIns="365760" bIns="457200" anchor="ctr">
            <a:spAutoFit/>
          </a:bodyPr>
          <a:lstStyle/>
          <a:p>
            <a:pPr algn="ctr"/>
            <a:r>
              <a:rPr sz="5600" b="1">
                <a:solidFill>
                  <a:srgbClr val="500000"/>
                </a:solidFill>
                <a:latin typeface="Arial"/>
              </a:rPr>
              <a:t>$118,225</a:t>
            </a:r>
          </a:p>
          <a:p>
            <a:pPr algn="ctr"/>
            <a:r>
              <a:rPr sz="2000" b="0">
                <a:solidFill>
                  <a:srgbClr val="500000"/>
                </a:solidFill>
                <a:latin typeface="Arial"/>
              </a:rPr>
              <a:t>first violation</a:t>
            </a:r>
          </a:p>
          <a:p>
            <a:pPr algn="ctr"/>
            <a:endParaRPr sz="2000" b="0">
              <a:solidFill>
                <a:srgbClr val="500000"/>
              </a:solidFill>
              <a:latin typeface="Arial"/>
            </a:endParaRPr>
          </a:p>
          <a:p>
            <a:pPr algn="ctr"/>
            <a:r>
              <a:rPr sz="5600" b="1">
                <a:solidFill>
                  <a:srgbClr val="500000"/>
                </a:solidFill>
                <a:latin typeface="Arial"/>
              </a:rPr>
              <a:t>$236,451</a:t>
            </a:r>
          </a:p>
          <a:p>
            <a:pPr algn="ctr"/>
            <a:r>
              <a:rPr sz="2000" b="0">
                <a:solidFill>
                  <a:srgbClr val="500000"/>
                </a:solidFill>
                <a:latin typeface="Arial"/>
              </a:rPr>
              <a:t>each subsequent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5"/>
          <p:cNvSpPr txBox="1"/>
          <p:nvPr/>
        </p:nvSpPr>
        <p:spPr>
          <a:xfrm>
            <a:off x="823746" y="1990159"/>
            <a:ext cx="4357854" cy="4115209"/>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1000"/>
              </a:spcBef>
              <a:spcAft>
                <a:spcPts val="0"/>
              </a:spcAft>
              <a:buClr>
                <a:schemeClr val="lt1"/>
              </a:buClr>
              <a:buSzPts val="2000"/>
              <a:buFont typeface="Arial"/>
              <a:buNone/>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Per Building Principles CASp (2024 industry estimate), 73 percent of U.S. commercial buildings fail at least one ADA standard.</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12.2 percent of U.S. adults (CDC) report mobility disabilities -- approximately 31 million people.</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110" name="Google Shape;110;p5"/>
          <p:cNvSpPr txBox="1"/>
          <p:nvPr/>
        </p:nvSpPr>
        <p:spPr>
          <a:xfrm>
            <a:off x="492760" y="554989"/>
            <a:ext cx="8136085"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Who measures this?</a:t>
            </a:r>
            <a:endParaRPr b="1" i="1" dirty="0">
              <a:latin typeface="Arial Black" panose="020B0604020202020204" pitchFamily="34" charset="0"/>
              <a:cs typeface="Arial Black" panose="020B0604020202020204" pitchFamily="34" charset="0"/>
            </a:endParaRPr>
          </a:p>
        </p:txBody>
      </p:sp>
      <p:pic>
        <p:nvPicPr>
          <p:cNvPr id="111" name="Picture 110" descr="chart_b_compliance_donut.png"/>
          <p:cNvPicPr>
            <a:picLocks noChangeAspect="1"/>
          </p:cNvPicPr>
          <p:nvPr/>
        </p:nvPicPr>
        <p:blipFill>
          <a:blip r:embed="rId3"/>
          <a:stretch>
            <a:fillRect/>
          </a:stretch>
        </p:blipFill>
        <p:spPr>
          <a:xfrm>
            <a:off x="5860491" y="2498937"/>
            <a:ext cx="5734618" cy="32257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5"/>
          <p:cNvSpPr txBox="1"/>
          <p:nvPr/>
        </p:nvSpPr>
        <p:spPr>
          <a:xfrm>
            <a:off x="823746" y="1990159"/>
            <a:ext cx="4357854" cy="4115209"/>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1000"/>
              </a:spcBef>
              <a:spcAft>
                <a:spcPts val="0"/>
              </a:spcAft>
              <a:buClr>
                <a:schemeClr val="lt1"/>
              </a:buClr>
              <a:buSzPts val="2000"/>
              <a:buFont typeface="Arial"/>
              <a:buNone/>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Federal Title III filings: 10,163 (2018) -&gt; peak 11,452 (2021) -&gt; rebounded to 8,800 in 2024.</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California leads with 3,252 filings in 2024; Texas filed 224.</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Title II web-accessibility rule (DOJ Apr 2024, deadlines extended Apr 2026 to Apr 2027 and Apr 2028) coincided with a 7 pct year-over-year rebound.</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110" name="Google Shape;110;p5"/>
          <p:cNvSpPr txBox="1"/>
          <p:nvPr/>
        </p:nvSpPr>
        <p:spPr>
          <a:xfrm>
            <a:off x="492760" y="554989"/>
            <a:ext cx="10339363"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4800" b="1" i="1" dirty="0">
                <a:solidFill>
                  <a:schemeClr val="lt1"/>
                </a:solidFill>
                <a:latin typeface="Arial Black" panose="020B0604020202020204" pitchFamily="34" charset="0"/>
                <a:ea typeface="Open Sans ExtraBold"/>
                <a:cs typeface="Arial Black" panose="020B0604020202020204" pitchFamily="34" charset="0"/>
                <a:sym typeface="Open Sans ExtraBold"/>
              </a:rPr>
              <a:t>Enforcement is accelerating</a:t>
            </a:r>
            <a:endParaRPr sz="1200" b="1" i="1" dirty="0">
              <a:latin typeface="Arial Black" panose="020B0604020202020204" pitchFamily="34" charset="0"/>
              <a:cs typeface="Arial Black" panose="020B0604020202020204" pitchFamily="34" charset="0"/>
            </a:endParaRPr>
          </a:p>
        </p:txBody>
      </p:sp>
      <p:pic>
        <p:nvPicPr>
          <p:cNvPr id="111" name="Picture 110" descr="chart_a_lawsuit_trend.png"/>
          <p:cNvPicPr>
            <a:picLocks noChangeAspect="1"/>
          </p:cNvPicPr>
          <p:nvPr/>
        </p:nvPicPr>
        <p:blipFill>
          <a:blip r:embed="rId3"/>
          <a:stretch>
            <a:fillRect/>
          </a:stretch>
        </p:blipFill>
        <p:spPr>
          <a:xfrm>
            <a:off x="6096000" y="2609779"/>
            <a:ext cx="5335227" cy="30010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8" name="Google Shape;118;p6"/>
          <p:cNvSpPr txBox="1"/>
          <p:nvPr/>
        </p:nvSpPr>
        <p:spPr>
          <a:xfrm>
            <a:off x="492760" y="554989"/>
            <a:ext cx="6579259"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Tech stack</a:t>
            </a:r>
            <a:endParaRPr b="1" i="1" dirty="0">
              <a:latin typeface="Arial Black" panose="020B0604020202020204" pitchFamily="34" charset="0"/>
              <a:cs typeface="Arial Black" panose="020B0604020202020204" pitchFamily="34" charset="0"/>
            </a:endParaRPr>
          </a:p>
        </p:txBody>
      </p:sp>
      <p:sp>
        <p:nvSpPr>
          <p:cNvPr id="119" name="Google Shape;119;p6"/>
          <p:cNvSpPr txBox="1"/>
          <p:nvPr/>
        </p:nvSpPr>
        <p:spPr>
          <a:xfrm>
            <a:off x="1225296"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HARDWARE</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RPLiDAR C1 (12 m, IP54)</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IMX219-83 stereo cameras</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BNO055 IMU, HC-SR04 sonar</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Renesas RX72N (240 MHz)</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Raspberry Pi 5</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DRV8263H driver x4</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5S 18650 battery pack</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4" name="Google Shape;119;p6">
            <a:extLst>
              <a:ext uri="{FF2B5EF4-FFF2-40B4-BE49-F238E27FC236}">
                <a16:creationId xmlns:a16="http://schemas.microsoft.com/office/drawing/2014/main" id="{5570FCBF-6B93-CE2E-E11C-3E84FD5EDD5D}"/>
              </a:ext>
            </a:extLst>
          </p:cNvPr>
          <p:cNvSpPr txBox="1"/>
          <p:nvPr/>
        </p:nvSpPr>
        <p:spPr>
          <a:xfrm>
            <a:off x="4782572"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SOFTWARE</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ROS 2 Jazzy on Ubuntu 24.04</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slam_toolbox (mapping mode)</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Nav2 + RegulatedPurePursuit</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robot_localization EKF</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Go gateway with nanopb</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Python compliance engine</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C23 firmware on ThreadX</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5" name="Google Shape;119;p6">
            <a:extLst>
              <a:ext uri="{FF2B5EF4-FFF2-40B4-BE49-F238E27FC236}">
                <a16:creationId xmlns:a16="http://schemas.microsoft.com/office/drawing/2014/main" id="{1872974F-F870-0D84-C0E4-943D6FD28580}"/>
              </a:ext>
            </a:extLst>
          </p:cNvPr>
          <p:cNvSpPr txBox="1"/>
          <p:nvPr/>
        </p:nvSpPr>
        <p:spPr>
          <a:xfrm>
            <a:off x="8392045"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VALIDATION</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60 firmware ctests, 100 pct libs/</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74.0 pct Go gateway cov, gate 65</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14 ROS 2 colcon tests</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12 compliance pytest modules</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9 manual PCB validation checks</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Wixey WR300 +/- 0.1 deg ground truth</a:t>
            </a:r>
            <a:endParaRPr sz="1200" dirty="0">
              <a:latin typeface="Arial" panose="020B0604020202020204" pitchFamily="34" charset="0"/>
              <a:ea typeface="Open Sans" panose="020B0606030504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5"/>
          <p:cNvSpPr txBox="1"/>
          <p:nvPr/>
        </p:nvSpPr>
        <p:spPr>
          <a:xfrm>
            <a:off x="823746" y="1990159"/>
            <a:ext cx="4357854" cy="4115209"/>
          </a:xfrm>
          <a:prstGeom prst="rect">
            <a:avLst/>
          </a:prstGeom>
          <a:noFill/>
          <a:ln>
            <a:noFill/>
          </a:ln>
        </p:spPr>
        <p:txBody>
          <a:bodyPr spcFirstLastPara="1" wrap="square" lIns="91425" tIns="45700" rIns="91425" bIns="45700" anchor="t" anchorCtr="0">
            <a:noAutofit/>
          </a:bodyPr>
          <a:lstStyle/>
          <a:p>
            <a:pPr marL="285750" marR="0" lvl="0" indent="-285750" algn="l" rtl="0">
              <a:lnSpc>
                <a:spcPct val="150000"/>
              </a:lnSpc>
              <a:spcBef>
                <a:spcPts val="1000"/>
              </a:spcBef>
              <a:spcAft>
                <a:spcPts val="0"/>
              </a:spcAft>
              <a:buClr>
                <a:schemeClr val="lt1"/>
              </a:buClr>
              <a:buSzPts val="2000"/>
              <a:buFont typeface="Arial" panose="020B0604020202020204" pitchFamily="34" charset="0"/>
              <a:buChar char="•"/>
            </a:pPr>
            <a:r>
              <a:rPr lang="en-US" sz="16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Sensors feed the RX72N for hard-real-time motor control at 250 Hz.</a:t>
            </a:r>
            <a:endParaRPr sz="1100" dirty="0">
              <a:latin typeface="Arial" panose="020B0604020202020204" pitchFamily="34" charset="0"/>
              <a:ea typeface="Open Sans" panose="020B0606030504020204" pitchFamily="34" charset="0"/>
              <a:cs typeface="Arial" panose="020B0604020202020204" pitchFamily="34" charset="0"/>
            </a:endParaRPr>
          </a:p>
          <a:p>
            <a:pPr marL="285750" marR="0" lvl="0" indent="-285750" algn="l" rtl="0">
              <a:lnSpc>
                <a:spcPct val="150000"/>
              </a:lnSpc>
              <a:spcBef>
                <a:spcPts val="1000"/>
              </a:spcBef>
              <a:spcAft>
                <a:spcPts val="0"/>
              </a:spcAft>
              <a:buClr>
                <a:schemeClr val="lt1"/>
              </a:buClr>
              <a:buSzPts val="2000"/>
              <a:buFont typeface="Arial" panose="020B0604020202020204" pitchFamily="34" charset="0"/>
              <a:buChar char="•"/>
            </a:pPr>
            <a:r>
              <a:rPr lang="en-US" sz="16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RX72N talks to the Pi 5 over a framed transport: SPI 10 MHz with FEC and HARQ is the architected production link; USB-CDC ASCII at 115200 baud is the deployed link for capstone defense.</a:t>
            </a:r>
            <a:endParaRPr sz="1100" dirty="0">
              <a:latin typeface="Arial" panose="020B0604020202020204" pitchFamily="34" charset="0"/>
              <a:ea typeface="Open Sans" panose="020B0606030504020204" pitchFamily="34" charset="0"/>
              <a:cs typeface="Arial" panose="020B0604020202020204" pitchFamily="34" charset="0"/>
            </a:endParaRPr>
          </a:p>
          <a:p>
            <a:pPr marL="285750" marR="0" lvl="0" indent="-285750" algn="l" rtl="0">
              <a:lnSpc>
                <a:spcPct val="150000"/>
              </a:lnSpc>
              <a:spcBef>
                <a:spcPts val="1000"/>
              </a:spcBef>
              <a:spcAft>
                <a:spcPts val="0"/>
              </a:spcAft>
              <a:buClr>
                <a:schemeClr val="lt1"/>
              </a:buClr>
              <a:buSzPts val="2000"/>
              <a:buFont typeface="Arial" panose="020B0604020202020204" pitchFamily="34" charset="0"/>
              <a:buChar char="•"/>
            </a:pPr>
            <a:r>
              <a:rPr lang="en-US" sz="16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Pi 5 runs slam_toolbox, robot_localization EKF, and Nav2. The compliance engine reads the fused map and emits a structured PDF report.</a:t>
            </a:r>
            <a:endParaRPr sz="1100" dirty="0">
              <a:latin typeface="Arial" panose="020B0604020202020204" pitchFamily="34" charset="0"/>
              <a:ea typeface="Open Sans" panose="020B0606030504020204" pitchFamily="34" charset="0"/>
              <a:cs typeface="Arial" panose="020B0604020202020204" pitchFamily="34" charset="0"/>
            </a:endParaRPr>
          </a:p>
        </p:txBody>
      </p:sp>
      <p:sp>
        <p:nvSpPr>
          <p:cNvPr id="110" name="Google Shape;110;p5"/>
          <p:cNvSpPr txBox="1"/>
          <p:nvPr/>
        </p:nvSpPr>
        <p:spPr>
          <a:xfrm>
            <a:off x="492760" y="554989"/>
            <a:ext cx="8894719"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System architecture</a:t>
            </a:r>
            <a:endParaRPr b="1" i="1" dirty="0">
              <a:latin typeface="Arial Black" panose="020B0604020202020204" pitchFamily="34" charset="0"/>
              <a:cs typeface="Arial Black" panose="020B0604020202020204" pitchFamily="34" charset="0"/>
            </a:endParaRPr>
          </a:p>
        </p:txBody>
      </p:sp>
      <p:pic>
        <p:nvPicPr>
          <p:cNvPr id="111" name="Picture 110" descr="chart_f_pipeline_sankey.png"/>
          <p:cNvPicPr>
            <a:picLocks noChangeAspect="1"/>
          </p:cNvPicPr>
          <p:nvPr/>
        </p:nvPicPr>
        <p:blipFill>
          <a:blip r:embed="rId3"/>
          <a:stretch>
            <a:fillRect/>
          </a:stretch>
        </p:blipFill>
        <p:spPr>
          <a:xfrm>
            <a:off x="5904120" y="2458282"/>
            <a:ext cx="5662271" cy="31850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8" name="Google Shape;118;p6"/>
          <p:cNvSpPr txBox="1"/>
          <p:nvPr/>
        </p:nvSpPr>
        <p:spPr>
          <a:xfrm>
            <a:off x="492760" y="554989"/>
            <a:ext cx="8829791"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Seven ADA checks</a:t>
            </a:r>
            <a:endParaRPr b="1" i="1" dirty="0">
              <a:latin typeface="Arial Black" panose="020B0604020202020204" pitchFamily="34" charset="0"/>
              <a:cs typeface="Arial Black" panose="020B0604020202020204" pitchFamily="34" charset="0"/>
            </a:endParaRPr>
          </a:p>
        </p:txBody>
      </p:sp>
      <p:sp>
        <p:nvSpPr>
          <p:cNvPr id="119" name="Google Shape;119;p6"/>
          <p:cNvSpPr txBox="1"/>
          <p:nvPr/>
        </p:nvSpPr>
        <p:spPr>
          <a:xfrm>
            <a:off x="1225296"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IMPLEMENTED</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Ramp slope (ADA 405.2)</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RANSAC plane on LiDAR + BNO055 pitch cross-validation</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Threshold 4.76 deg (1:12)</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4" name="Google Shape;119;p6">
            <a:extLst>
              <a:ext uri="{FF2B5EF4-FFF2-40B4-BE49-F238E27FC236}">
                <a16:creationId xmlns:a16="http://schemas.microsoft.com/office/drawing/2014/main" id="{5570FCBF-6B93-CE2E-E11C-3E84FD5EDD5D}"/>
              </a:ext>
            </a:extLst>
          </p:cNvPr>
          <p:cNvSpPr txBox="1"/>
          <p:nvPr/>
        </p:nvSpPr>
        <p:spPr>
          <a:xfrm>
            <a:off x="4782572"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STRETCH</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Trip hazard (ADA 303): vertical discontinuity &gt; 1/4 in</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Path width (ADA 403.5): cross-section along planned route</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5" name="Google Shape;119;p6">
            <a:extLst>
              <a:ext uri="{FF2B5EF4-FFF2-40B4-BE49-F238E27FC236}">
                <a16:creationId xmlns:a16="http://schemas.microsoft.com/office/drawing/2014/main" id="{1872974F-F870-0D84-C0E4-943D6FD28580}"/>
              </a:ext>
            </a:extLst>
          </p:cNvPr>
          <p:cNvSpPr txBox="1"/>
          <p:nvPr/>
        </p:nvSpPr>
        <p:spPr>
          <a:xfrm>
            <a:off x="8392045"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Existing but not tested due to limitations with motors:</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Ramp width (405.5)</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Ramp landings (405.7)</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Door clear width (404.2.3)</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Door threshold (404.2.5)</a:t>
            </a:r>
            <a:endParaRPr sz="1200" dirty="0">
              <a:latin typeface="Arial" panose="020B0604020202020204" pitchFamily="34" charset="0"/>
              <a:ea typeface="Open Sans" panose="020B0606030504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5"/>
          <p:cNvSpPr txBox="1"/>
          <p:nvPr/>
        </p:nvSpPr>
        <p:spPr>
          <a:xfrm>
            <a:off x="823746" y="1990159"/>
            <a:ext cx="4357854" cy="4115209"/>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1000"/>
              </a:spcBef>
              <a:spcAft>
                <a:spcPts val="0"/>
              </a:spcAft>
              <a:buClr>
                <a:schemeClr val="lt1"/>
              </a:buClr>
              <a:buSzPts val="2000"/>
              <a:buFont typeface="Arial"/>
              <a:buNone/>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Robot is dispatched in MANUAL via the Grafana cockpit, then handed to AUTONOMY for frontier exploration.</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On approach to a ramp, the compliance engine fits a RANSAC plane and cross-validates pitch against the BNO055.</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When measured slope &gt; 4.76 deg, the engine logs a violation flag with the ground-truth row in the PDF audit report.</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110" name="Google Shape;110;p5"/>
          <p:cNvSpPr txBox="1"/>
          <p:nvPr/>
        </p:nvSpPr>
        <p:spPr>
          <a:xfrm>
            <a:off x="492760" y="554989"/>
            <a:ext cx="6579259"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Live demo</a:t>
            </a:r>
            <a:endParaRPr b="1" i="1" dirty="0">
              <a:latin typeface="Arial Black" panose="020B0604020202020204" pitchFamily="34" charset="0"/>
              <a:cs typeface="Arial Black" panose="020B0604020202020204" pitchFamily="34" charset="0"/>
            </a:endParaRPr>
          </a:p>
        </p:txBody>
      </p:sp>
      <p:pic>
        <p:nvPicPr>
          <p:cNvPr id="111" name="Picture 110" descr="lichtblick-teleop.png"/>
          <p:cNvPicPr>
            <a:picLocks noChangeAspect="1"/>
          </p:cNvPicPr>
          <p:nvPr/>
        </p:nvPicPr>
        <p:blipFill>
          <a:blip r:embed="rId3"/>
          <a:stretch>
            <a:fillRect/>
          </a:stretch>
        </p:blipFill>
        <p:spPr>
          <a:xfrm>
            <a:off x="6039386" y="2380607"/>
            <a:ext cx="5534143" cy="33492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5"/>
          <p:cNvSpPr txBox="1"/>
          <p:nvPr/>
        </p:nvSpPr>
        <p:spPr>
          <a:xfrm>
            <a:off x="823746" y="1990159"/>
            <a:ext cx="4357854" cy="4115209"/>
          </a:xfrm>
          <a:prstGeom prst="rect">
            <a:avLst/>
          </a:prstGeom>
          <a:noFill/>
          <a:ln>
            <a:noFill/>
          </a:ln>
        </p:spPr>
        <p:txBody>
          <a:bodyPr spcFirstLastPara="1" wrap="square" lIns="91425" tIns="45700" rIns="91425" bIns="45700" anchor="t" anchorCtr="0">
            <a:noAutofit/>
          </a:bodyPr>
          <a:lstStyle/>
          <a:p>
            <a:pPr marL="285750" marR="0" lvl="0" indent="-285750" algn="l" rtl="0">
              <a:lnSpc>
                <a:spcPct val="150000"/>
              </a:lnSpc>
              <a:spcBef>
                <a:spcPts val="1000"/>
              </a:spcBef>
              <a:spcAft>
                <a:spcPts val="0"/>
              </a:spcAft>
              <a:buClr>
                <a:schemeClr val="lt1"/>
              </a:buClr>
              <a:buSzPts val="2000"/>
              <a:buFont typeface="Arial" panose="020B0604020202020204" pitchFamily="34" charset="0"/>
              <a:buChar char="•"/>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Software: 60 firmware ctests (100 pct libs/), 74 pct Go gateway, 14 ROS 2 tests, 12 pytest modules.</a:t>
            </a:r>
            <a:endParaRPr sz="1200" dirty="0">
              <a:latin typeface="Arial" panose="020B0604020202020204" pitchFamily="34" charset="0"/>
              <a:ea typeface="Open Sans" panose="020B0606030504020204" pitchFamily="34" charset="0"/>
              <a:cs typeface="Arial" panose="020B0604020202020204" pitchFamily="34" charset="0"/>
            </a:endParaRPr>
          </a:p>
          <a:p>
            <a:pPr marL="285750" marR="0" lvl="0" indent="-285750" algn="l" rtl="0">
              <a:lnSpc>
                <a:spcPct val="150000"/>
              </a:lnSpc>
              <a:spcBef>
                <a:spcPts val="1000"/>
              </a:spcBef>
              <a:spcAft>
                <a:spcPts val="0"/>
              </a:spcAft>
              <a:buClr>
                <a:schemeClr val="lt1"/>
              </a:buClr>
              <a:buSzPts val="2000"/>
              <a:buFont typeface="Arial" panose="020B0604020202020204" pitchFamily="34" charset="0"/>
              <a:buChar char="•"/>
            </a:pPr>
            <a:r>
              <a:rPr lang="en-US" sz="1800" dirty="0">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Hardware: 9 manual PCB checks all PASS: continuity, motor free-spin + loaded chassis with DC current, scoped PWM, AD2-probed comm.</a:t>
            </a:r>
            <a:endParaRPr sz="1200" dirty="0">
              <a:latin typeface="Arial" panose="020B0604020202020204" pitchFamily="34" charset="0"/>
              <a:ea typeface="Open Sans" panose="020B0606030504020204" pitchFamily="34" charset="0"/>
              <a:cs typeface="Arial" panose="020B0604020202020204" pitchFamily="34" charset="0"/>
            </a:endParaRPr>
          </a:p>
          <a:p>
            <a:pPr marL="285750" marR="0" lvl="0" indent="-285750" algn="l" rtl="0">
              <a:lnSpc>
                <a:spcPct val="150000"/>
              </a:lnSpc>
              <a:spcBef>
                <a:spcPts val="1000"/>
              </a:spcBef>
              <a:spcAft>
                <a:spcPts val="0"/>
              </a:spcAft>
              <a:buClr>
                <a:schemeClr val="lt1"/>
              </a:buClr>
              <a:buSzPts val="2000"/>
              <a:buFont typeface="Arial" panose="020B0604020202020204" pitchFamily="34" charset="0"/>
              <a:buChar char="•"/>
            </a:pPr>
            <a:r>
              <a:rPr lang="en-US" sz="18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Field: autonomous frontier-exploration scan of a Thompson Hall hallway (right); demo run flags ramp-slope and path-width violations.</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110" name="Google Shape;110;p5"/>
          <p:cNvSpPr txBox="1"/>
          <p:nvPr/>
        </p:nvSpPr>
        <p:spPr>
          <a:xfrm>
            <a:off x="492760" y="554989"/>
            <a:ext cx="6579259"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Validation</a:t>
            </a:r>
            <a:endParaRPr b="1" i="1" dirty="0">
              <a:latin typeface="Arial Black" panose="020B0604020202020204" pitchFamily="34" charset="0"/>
              <a:cs typeface="Arial Black" panose="020B0604020202020204" pitchFamily="34" charset="0"/>
            </a:endParaRPr>
          </a:p>
        </p:txBody>
      </p:sp>
      <p:pic>
        <p:nvPicPr>
          <p:cNvPr id="111" name="Picture 110" descr="thompson-hall-map.png"/>
          <p:cNvPicPr>
            <a:picLocks noChangeAspect="1"/>
          </p:cNvPicPr>
          <p:nvPr/>
        </p:nvPicPr>
        <p:blipFill>
          <a:blip r:embed="rId3"/>
          <a:stretch>
            <a:fillRect/>
          </a:stretch>
        </p:blipFill>
        <p:spPr>
          <a:xfrm>
            <a:off x="6830913" y="2160615"/>
            <a:ext cx="4040865" cy="39031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5"/>
          <p:cNvSpPr txBox="1"/>
          <p:nvPr/>
        </p:nvSpPr>
        <p:spPr>
          <a:xfrm>
            <a:off x="823746" y="1990159"/>
            <a:ext cx="4357854" cy="4115209"/>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1000"/>
              </a:spcBef>
              <a:spcAft>
                <a:spcPts val="0"/>
              </a:spcAft>
              <a:buClr>
                <a:schemeClr val="lt1"/>
              </a:buClr>
              <a:buSzPts val="2000"/>
              <a:buFont typeface="Arial"/>
              <a:buNone/>
            </a:pPr>
            <a:r>
              <a:rPr lang="en-US" sz="16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Design BOM ~$864; ordered total ~$1,249 component cost (~$1,549 with shipping). Well under the $2,000 capstone target.</a:t>
            </a:r>
            <a:endParaRPr sz="11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6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Compute $182 (Pi 5, RX72N, PCB) - Sensors $270 (LiDAR, stereo, IMU, sonar) - Drivetrain $144 (motors, drivers, wheels) - Power $108 (battery, BMS, regulators) - Chassis $100</a:t>
            </a:r>
            <a:endParaRPr sz="11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50000"/>
              </a:lnSpc>
              <a:spcBef>
                <a:spcPts val="1000"/>
              </a:spcBef>
              <a:spcAft>
                <a:spcPts val="0"/>
              </a:spcAft>
              <a:buClr>
                <a:schemeClr val="lt1"/>
              </a:buClr>
              <a:buSzPts val="2000"/>
              <a:buFont typeface="Arial"/>
              <a:buNone/>
            </a:pPr>
            <a:r>
              <a:rPr lang="en-US" sz="1600" dirty="0" err="1">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Daxbot service-as-a-product is $920k for 950 surveyed miles. STAR is sub-$2k recurring near-zero. Different economics entirely.</a:t>
            </a:r>
            <a:endParaRPr sz="1100" dirty="0">
              <a:latin typeface="Arial" panose="020B0604020202020204" pitchFamily="34" charset="0"/>
              <a:ea typeface="Open Sans" panose="020B0606030504020204" pitchFamily="34" charset="0"/>
              <a:cs typeface="Arial" panose="020B0604020202020204" pitchFamily="34" charset="0"/>
            </a:endParaRPr>
          </a:p>
        </p:txBody>
      </p:sp>
      <p:sp>
        <p:nvSpPr>
          <p:cNvPr id="110" name="Google Shape;110;p5"/>
          <p:cNvSpPr txBox="1"/>
          <p:nvPr/>
        </p:nvSpPr>
        <p:spPr>
          <a:xfrm>
            <a:off x="492760" y="554989"/>
            <a:ext cx="6579259"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Cost</a:t>
            </a:r>
            <a:endParaRPr b="1" i="1" dirty="0">
              <a:latin typeface="Arial Black" panose="020B0604020202020204" pitchFamily="34" charset="0"/>
              <a:cs typeface="Arial Black" panose="020B0604020202020204" pitchFamily="34" charset="0"/>
            </a:endParaRPr>
          </a:p>
        </p:txBody>
      </p:sp>
      <p:pic>
        <p:nvPicPr>
          <p:cNvPr id="111" name="Picture 110" descr="chart_c_cost_time.png"/>
          <p:cNvPicPr>
            <a:picLocks noChangeAspect="1"/>
          </p:cNvPicPr>
          <p:nvPr/>
        </p:nvPicPr>
        <p:blipFill>
          <a:blip r:embed="rId3"/>
          <a:stretch>
            <a:fillRect/>
          </a:stretch>
        </p:blipFill>
        <p:spPr>
          <a:xfrm>
            <a:off x="5759719" y="2359719"/>
            <a:ext cx="6001933" cy="33760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3"/>
          <p:cNvSpPr txBox="1"/>
          <p:nvPr/>
        </p:nvSpPr>
        <p:spPr>
          <a:xfrm>
            <a:off x="2747999" y="2837213"/>
            <a:ext cx="6696001" cy="790568"/>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5400"/>
              <a:buFont typeface="Oswald"/>
              <a:buNone/>
            </a:pPr>
            <a:r>
              <a:rPr lang="en-US" sz="5400" b="1" i="1" dirty="0">
                <a:solidFill>
                  <a:schemeClr val="lt1"/>
                </a:solidFill>
                <a:latin typeface="Arial Narrow" panose="020B0604020202020204" pitchFamily="34" charset="0"/>
                <a:ea typeface="Oswald"/>
                <a:cs typeface="Arial Narrow" panose="020B0604020202020204" pitchFamily="34" charset="0"/>
                <a:sym typeface="Oswald"/>
              </a:rPr>
              <a:t>Broader impact</a:t>
            </a:r>
            <a:endParaRPr lang="en-US" b="1" i="1" dirty="0">
              <a:latin typeface="Arial Narrow" panose="020B0604020202020204" pitchFamily="34" charset="0"/>
              <a:cs typeface="Arial Narrow"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p:nvPr/>
        </p:nvSpPr>
        <p:spPr>
          <a:xfrm>
            <a:off x="838200" y="2104704"/>
            <a:ext cx="10515600" cy="3414195"/>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30909"/>
              </a:lnSpc>
              <a:spcBef>
                <a:spcPts val="0"/>
              </a:spcBef>
              <a:spcAft>
                <a:spcPts val="0"/>
              </a:spcAft>
              <a:buClr>
                <a:schemeClr val="accent2"/>
              </a:buClr>
              <a:buSzPts val="2200"/>
              <a:buFont typeface="Arial"/>
              <a:buChar char="•"/>
            </a:pPr>
            <a:r>
              <a:rPr lang="en-US" sz="2200" b="1" dirty="0">
                <a:solidFill>
                  <a:schemeClr val="tx2"/>
                </a:solidFill>
                <a:latin typeface="Arial Black" panose="020B0604020202020204" pitchFamily="34" charset="0"/>
                <a:ea typeface="Open Sans"/>
                <a:cs typeface="Arial Black" panose="020B0604020202020204" pitchFamily="34" charset="0"/>
                <a:sym typeface="Open Sans"/>
              </a:rPr>
              <a:t>Implement architected ADA checks: ramp width, ramp landing, door clear width, door threshold.</a:t>
            </a:r>
            <a:br>
              <a:rPr lang="en-US" sz="1800" b="1" dirty="0">
                <a:solidFill>
                  <a:schemeClr val="tx2"/>
                </a:solidFill>
                <a:latin typeface="Arial" panose="020B0604020202020204" pitchFamily="34" charset="0"/>
                <a:ea typeface="Calibri"/>
                <a:cs typeface="Arial" panose="020B0604020202020204" pitchFamily="34" charset="0"/>
                <a:sym typeface="Calibri"/>
              </a:rPr>
            </a:br>
            <a:endParaRPr sz="1800" b="1" dirty="0">
              <a:solidFill>
                <a:schemeClr val="tx2"/>
              </a:solidFill>
              <a:latin typeface="Arial" panose="020B0604020202020204" pitchFamily="34" charset="0"/>
              <a:ea typeface="Calibri"/>
              <a:cs typeface="Arial" panose="020B0604020202020204" pitchFamily="34" charset="0"/>
              <a:sym typeface="Calibri"/>
            </a:endParaRPr>
          </a:p>
          <a:p>
            <a:pPr marL="228600" marR="0" lvl="0" indent="-228600" algn="l" rtl="0">
              <a:lnSpc>
                <a:spcPct val="130909"/>
              </a:lnSpc>
              <a:spcBef>
                <a:spcPts val="0"/>
              </a:spcBef>
              <a:spcAft>
                <a:spcPts val="0"/>
              </a:spcAft>
              <a:buClr>
                <a:schemeClr val="accent2"/>
              </a:buClr>
              <a:buSzPts val="2200"/>
              <a:buFont typeface="Arial"/>
              <a:buChar char="•"/>
            </a:pPr>
            <a:r>
              <a:rPr lang="en-US" sz="2200" b="1" dirty="0">
                <a:solidFill>
                  <a:schemeClr val="tx2"/>
                </a:solidFill>
                <a:latin typeface="Arial Black" panose="020B0604020202020204" pitchFamily="34" charset="0"/>
                <a:ea typeface="Open Sans"/>
                <a:cs typeface="Arial Black" panose="020B0604020202020204" pitchFamily="34" charset="0"/>
                <a:sym typeface="Open Sans"/>
              </a:rPr>
              <a:t>Sensor fusion via RTAB-Map for richer 3D reconstruction.</a:t>
            </a:r>
            <a:br>
              <a:rPr lang="en-US" sz="1800" b="1" dirty="0">
                <a:solidFill>
                  <a:schemeClr val="tx2"/>
                </a:solidFill>
                <a:latin typeface="Arial" panose="020B0604020202020204" pitchFamily="34" charset="0"/>
                <a:ea typeface="Calibri"/>
                <a:cs typeface="Arial" panose="020B0604020202020204" pitchFamily="34" charset="0"/>
                <a:sym typeface="Calibri"/>
              </a:rPr>
            </a:br>
            <a:endParaRPr sz="1800" b="1" dirty="0">
              <a:solidFill>
                <a:schemeClr val="tx2"/>
              </a:solidFill>
              <a:latin typeface="Arial" panose="020B0604020202020204" pitchFamily="34" charset="0"/>
              <a:ea typeface="Calibri"/>
              <a:cs typeface="Arial" panose="020B0604020202020204" pitchFamily="34" charset="0"/>
              <a:sym typeface="Calibri"/>
            </a:endParaRPr>
          </a:p>
          <a:p>
            <a:pPr marL="228600" marR="0" lvl="0" indent="-228600" algn="l" rtl="0">
              <a:lnSpc>
                <a:spcPct val="130909"/>
              </a:lnSpc>
              <a:spcBef>
                <a:spcPts val="0"/>
              </a:spcBef>
              <a:spcAft>
                <a:spcPts val="0"/>
              </a:spcAft>
              <a:buClr>
                <a:schemeClr val="accent2"/>
              </a:buClr>
              <a:buSzPts val="2200"/>
              <a:buFont typeface="Arial"/>
              <a:buChar char="•"/>
            </a:pPr>
            <a:r>
              <a:rPr lang="en-US" sz="2200" b="1" dirty="0">
                <a:solidFill>
                  <a:schemeClr val="tx2"/>
                </a:solidFill>
                <a:latin typeface="Arial Black" panose="020B0604020202020204" pitchFamily="34" charset="0"/>
                <a:ea typeface="Open Sans"/>
                <a:cs typeface="Arial Black" panose="020B0604020202020204" pitchFamily="34" charset="0"/>
                <a:sym typeface="Open Sans"/>
              </a:rPr>
              <a:t>Multi-floor support with elevator detection and floor handoff.</a:t>
            </a:r>
            <a:br>
              <a:rPr lang="en-US" sz="1800" b="1" dirty="0">
                <a:solidFill>
                  <a:schemeClr val="tx2"/>
                </a:solidFill>
                <a:latin typeface="Arial" panose="020B0604020202020204" pitchFamily="34" charset="0"/>
                <a:ea typeface="Calibri"/>
                <a:cs typeface="Arial" panose="020B0604020202020204" pitchFamily="34" charset="0"/>
                <a:sym typeface="Calibri"/>
              </a:rPr>
            </a:br>
            <a:endParaRPr sz="1800" b="1" dirty="0">
              <a:solidFill>
                <a:schemeClr val="tx2"/>
              </a:solidFill>
              <a:latin typeface="Arial" panose="020B0604020202020204" pitchFamily="34" charset="0"/>
              <a:ea typeface="Calibri"/>
              <a:cs typeface="Arial" panose="020B0604020202020204" pitchFamily="34" charset="0"/>
              <a:sym typeface="Calibri"/>
            </a:endParaRPr>
          </a:p>
          <a:p>
            <a:pPr marL="228600" marR="0" lvl="0" indent="-228600" algn="l" rtl="0">
              <a:lnSpc>
                <a:spcPct val="130909"/>
              </a:lnSpc>
              <a:spcBef>
                <a:spcPts val="0"/>
              </a:spcBef>
              <a:spcAft>
                <a:spcPts val="0"/>
              </a:spcAft>
              <a:buClr>
                <a:schemeClr val="accent2"/>
              </a:buClr>
              <a:buSzPts val="2200"/>
              <a:buFont typeface="Arial"/>
              <a:buChar char="•"/>
            </a:pPr>
            <a:r>
              <a:rPr lang="en-US" sz="2200" b="1" dirty="0">
                <a:solidFill>
                  <a:schemeClr val="tx2"/>
                </a:solidFill>
                <a:latin typeface="Arial Black" panose="020B0604020202020204" pitchFamily="34" charset="0"/>
                <a:ea typeface="Open Sans"/>
                <a:cs typeface="Arial Black" panose="020B0604020202020204" pitchFamily="34" charset="0"/>
                <a:sym typeface="Open Sans"/>
              </a:rPr>
              <a:t>ML-based fixture recognition for fire extinguishers, signage, hardware.</a:t>
            </a:r>
            <a:br>
              <a:rPr lang="en-US" sz="1800" b="1" dirty="0">
                <a:solidFill>
                  <a:schemeClr val="tx2"/>
                </a:solidFill>
                <a:latin typeface="Arial" panose="020B0604020202020204" pitchFamily="34" charset="0"/>
                <a:ea typeface="Calibri"/>
                <a:cs typeface="Arial" panose="020B0604020202020204" pitchFamily="34" charset="0"/>
                <a:sym typeface="Calibri"/>
              </a:rPr>
            </a:br>
            <a:endParaRPr sz="1800" b="1" dirty="0">
              <a:solidFill>
                <a:schemeClr val="tx2"/>
              </a:solidFill>
              <a:latin typeface="Arial" panose="020B0604020202020204" pitchFamily="34" charset="0"/>
              <a:ea typeface="Calibri"/>
              <a:cs typeface="Arial" panose="020B0604020202020204" pitchFamily="34" charset="0"/>
              <a:sym typeface="Calibri"/>
            </a:endParaRPr>
          </a:p>
          <a:p>
            <a:pPr marL="228600" marR="0" lvl="0" indent="-228600" algn="l" rtl="0">
              <a:lnSpc>
                <a:spcPct val="130909"/>
              </a:lnSpc>
              <a:spcBef>
                <a:spcPts val="0"/>
              </a:spcBef>
              <a:spcAft>
                <a:spcPts val="0"/>
              </a:spcAft>
              <a:buClr>
                <a:schemeClr val="accent2"/>
              </a:buClr>
              <a:buSzPts val="2200"/>
              <a:buFont typeface="Arial"/>
              <a:buChar char="•"/>
            </a:pPr>
            <a:r>
              <a:rPr lang="en-US" sz="2200" b="1" dirty="0">
                <a:solidFill>
                  <a:schemeClr val="tx2"/>
                </a:solidFill>
                <a:latin typeface="Arial Black" panose="020B0604020202020204" pitchFamily="34" charset="0"/>
                <a:ea typeface="Open Sans"/>
                <a:cs typeface="Arial Black" panose="020B0604020202020204" pitchFamily="34" charset="0"/>
                <a:sym typeface="Open Sans"/>
              </a:rPr>
              <a:t>Outdoor GPS plus RTK for campus-scale audit campaigns.</a:t>
            </a:r>
            <a:br>
              <a:rPr lang="en-US" sz="1800" b="1" dirty="0">
                <a:solidFill>
                  <a:schemeClr val="tx2"/>
                </a:solidFill>
                <a:latin typeface="Arial" panose="020B0604020202020204" pitchFamily="34" charset="0"/>
                <a:ea typeface="Calibri"/>
                <a:cs typeface="Arial" panose="020B0604020202020204" pitchFamily="34" charset="0"/>
                <a:sym typeface="Calibri"/>
              </a:rPr>
            </a:br>
            <a:endParaRPr sz="1800" b="1" dirty="0">
              <a:solidFill>
                <a:schemeClr val="tx2"/>
              </a:solidFill>
              <a:latin typeface="Arial" panose="020B0604020202020204" pitchFamily="34" charset="0"/>
              <a:ea typeface="Calibri"/>
              <a:cs typeface="Arial" panose="020B0604020202020204" pitchFamily="34" charset="0"/>
              <a:sym typeface="Calibri"/>
            </a:endParaRPr>
          </a:p>
        </p:txBody>
      </p:sp>
      <p:sp>
        <p:nvSpPr>
          <p:cNvPr id="87" name="Google Shape;87;p2"/>
          <p:cNvSpPr txBox="1"/>
          <p:nvPr/>
        </p:nvSpPr>
        <p:spPr>
          <a:xfrm>
            <a:off x="492760" y="554989"/>
            <a:ext cx="6579259"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Future work</a:t>
            </a:r>
            <a:endParaRPr b="1" i="1" dirty="0">
              <a:latin typeface="Arial Black" panose="020B0604020202020204" pitchFamily="34" charset="0"/>
              <a:cs typeface="Arial Black"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8" name="Google Shape;118;p6"/>
          <p:cNvSpPr txBox="1"/>
          <p:nvPr/>
        </p:nvSpPr>
        <p:spPr>
          <a:xfrm>
            <a:off x="492760" y="554989"/>
            <a:ext cx="6579259" cy="124736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5400"/>
              <a:buFont typeface="Open Sans ExtraBold"/>
              <a:buNone/>
            </a:pPr>
            <a:r>
              <a:rPr lang="en-US" sz="5400" b="1" i="1" dirty="0">
                <a:solidFill>
                  <a:schemeClr val="lt1"/>
                </a:solidFill>
                <a:latin typeface="Arial Black" panose="020B0604020202020204" pitchFamily="34" charset="0"/>
                <a:ea typeface="Open Sans ExtraBold"/>
                <a:cs typeface="Arial Black" panose="020B0604020202020204" pitchFamily="34" charset="0"/>
                <a:sym typeface="Open Sans ExtraBold"/>
              </a:rPr>
              <a:t>Q&amp;A and team</a:t>
            </a:r>
            <a:endParaRPr b="1" i="1" dirty="0">
              <a:latin typeface="Arial Black" panose="020B0604020202020204" pitchFamily="34" charset="0"/>
              <a:cs typeface="Arial Black" panose="020B0604020202020204" pitchFamily="34" charset="0"/>
            </a:endParaRPr>
          </a:p>
        </p:txBody>
      </p:sp>
      <p:sp>
        <p:nvSpPr>
          <p:cNvPr id="119" name="Google Shape;119;p6"/>
          <p:cNvSpPr txBox="1"/>
          <p:nvPr/>
        </p:nvSpPr>
        <p:spPr>
          <a:xfrm>
            <a:off x="1225296"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SOFTWARE</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Cesar Magana, Project Manager</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proto, gateway, ROS 2, UI, MATLAB</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4" name="Google Shape;119;p6">
            <a:extLst>
              <a:ext uri="{FF2B5EF4-FFF2-40B4-BE49-F238E27FC236}">
                <a16:creationId xmlns:a16="http://schemas.microsoft.com/office/drawing/2014/main" id="{5570FCBF-6B93-CE2E-E11C-3E84FD5EDD5D}"/>
              </a:ext>
            </a:extLst>
          </p:cNvPr>
          <p:cNvSpPr txBox="1"/>
          <p:nvPr/>
        </p:nvSpPr>
        <p:spPr>
          <a:xfrm>
            <a:off x="4782572"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EMBEDDED AND PCB</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Brighton Sikarskie</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firmware, compliance engine, infra, schematic</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Jeremie Hockey, PCB layout</a:t>
            </a:r>
            <a:endParaRPr sz="1200" dirty="0">
              <a:latin typeface="Arial" panose="020B0604020202020204" pitchFamily="34" charset="0"/>
              <a:ea typeface="Open Sans" panose="020B0606030504020204" pitchFamily="34" charset="0"/>
              <a:cs typeface="Arial" panose="020B0604020202020204" pitchFamily="34" charset="0"/>
            </a:endParaRPr>
          </a:p>
        </p:txBody>
      </p:sp>
      <p:sp>
        <p:nvSpPr>
          <p:cNvPr id="5" name="Google Shape;119;p6">
            <a:extLst>
              <a:ext uri="{FF2B5EF4-FFF2-40B4-BE49-F238E27FC236}">
                <a16:creationId xmlns:a16="http://schemas.microsoft.com/office/drawing/2014/main" id="{1872974F-F870-0D84-C0E4-943D6FD28580}"/>
              </a:ext>
            </a:extLst>
          </p:cNvPr>
          <p:cNvSpPr txBox="1"/>
          <p:nvPr/>
        </p:nvSpPr>
        <p:spPr>
          <a:xfrm>
            <a:off x="8392045" y="2075278"/>
            <a:ext cx="2633472" cy="195722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dirty="0">
                <a:solidFill>
                  <a:schemeClr val="dk1"/>
                </a:solidFill>
                <a:latin typeface="Arial Black" panose="020B0604020202020204" pitchFamily="34" charset="0"/>
                <a:ea typeface="Open Sans Extrabold"/>
                <a:cs typeface="Arial Black" panose="020B0604020202020204" pitchFamily="34" charset="0"/>
                <a:sym typeface="Open Sans ExtraBold"/>
              </a:rPr>
              <a:t>HARDWARE AND REVIEW</a:t>
            </a: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Michael Norton, mechanical design</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Shawn Ciaciura, schematic review</a:t>
            </a:r>
            <a:endParaRPr sz="1200" dirty="0">
              <a:latin typeface="Arial" panose="020B0604020202020204" pitchFamily="34" charset="0"/>
              <a:ea typeface="Open Sans" panose="020B0606030504020204" pitchFamily="34" charset="0"/>
              <a:cs typeface="Arial" panose="020B0604020202020204" pitchFamily="34" charset="0"/>
            </a:endParaRPr>
          </a:p>
          <a:p>
            <a:pPr marL="0" marR="0" lvl="0" indent="0" algn="l" rtl="0">
              <a:lnSpc>
                <a:spcPct val="100000"/>
              </a:lnSpc>
              <a:spcBef>
                <a:spcPts val="1000"/>
              </a:spcBef>
              <a:spcAft>
                <a:spcPts val="0"/>
              </a:spcAft>
              <a:buClr>
                <a:srgbClr val="5D0025"/>
              </a:buClr>
              <a:buSzPts val="1600"/>
              <a:buFont typeface="Arial"/>
              <a:buNone/>
            </a:pPr>
            <a:r>
              <a:rPr lang="en-US" dirty="0" err="1">
                <a:solidFill>
                  <a:srgbClr val="5D0025"/>
                </a:solidFill>
                <a:latin typeface="Arial" panose="020B0604020202020204" pitchFamily="34" charset="0"/>
                <a:ea typeface="Open Sans" panose="020B0606030504020204" pitchFamily="34" charset="0"/>
                <a:cs typeface="Arial" panose="020B0604020202020204" pitchFamily="34" charset="0"/>
                <a:sym typeface="Calibri"/>
              </a:rPr>
              <a:t>Jared Bartz, schematic review</a:t>
            </a:r>
            <a:endParaRPr sz="1200" dirty="0">
              <a:latin typeface="Arial" panose="020B0604020202020204" pitchFamily="34" charset="0"/>
              <a:ea typeface="Open Sans" panose="020B0606030504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p:nvPr/>
        </p:nvSpPr>
        <p:spPr>
          <a:xfrm>
            <a:off x="2287784" y="4026536"/>
            <a:ext cx="7616421" cy="790568"/>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chemeClr val="lt1"/>
              </a:buClr>
              <a:buSzPts val="1400"/>
              <a:buFont typeface="Arial"/>
              <a:buNone/>
            </a:pPr>
            <a:r>
              <a:rPr lang="en-US" sz="1400" dirty="0">
                <a:solidFill>
                  <a:schemeClr val="lt1"/>
                </a:solidFill>
                <a:latin typeface="Arial" panose="020B0604020202020204" pitchFamily="34" charset="0"/>
                <a:ea typeface="Open Sans" panose="020B0606030504020204" pitchFamily="34" charset="0"/>
                <a:cs typeface="Arial" panose="020B0604020202020204" pitchFamily="34" charset="0"/>
                <a:sym typeface="Calibri"/>
              </a:rPr>
              <a:t>Locked Inc.  -  ESET 420 Senior Capstone, Spring 2026  -  github.com/Locked-Inc/STAR</a:t>
            </a:r>
            <a:endParaRPr dirty="0">
              <a:latin typeface="Arial" panose="020B0604020202020204" pitchFamily="34" charset="0"/>
              <a:ea typeface="Open Sans" panose="020B0606030504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TAMU - Grey">
      <a:dk1>
        <a:srgbClr val="500000"/>
      </a:dk1>
      <a:lt1>
        <a:srgbClr val="FFFFFF"/>
      </a:lt1>
      <a:dk2>
        <a:srgbClr val="3C001C"/>
      </a:dk2>
      <a:lt2>
        <a:srgbClr val="FAF7F3"/>
      </a:lt2>
      <a:accent1>
        <a:srgbClr val="3C041C"/>
      </a:accent1>
      <a:accent2>
        <a:srgbClr val="B6B6B6"/>
      </a:accent2>
      <a:accent3>
        <a:srgbClr val="FFFFFF"/>
      </a:accent3>
      <a:accent4>
        <a:srgbClr val="CCDCEA"/>
      </a:accent4>
      <a:accent5>
        <a:srgbClr val="D6D3C3"/>
      </a:accent5>
      <a:accent6>
        <a:srgbClr val="006482"/>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1778</Words>
  <Application>Microsoft Macintosh PowerPoint</Application>
  <PresentationFormat>Widescreen</PresentationFormat>
  <Paragraphs>110</Paragraphs>
  <Slides>14</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OSWALD MEDIUMITALIC</vt:lpstr>
      <vt:lpstr>Arial Black</vt:lpstr>
      <vt:lpstr>Oswald</vt:lpstr>
      <vt:lpstr>Open Sans ExtraBold</vt:lpstr>
      <vt:lpstr>Arial</vt:lpstr>
      <vt:lpstr>Calibri</vt:lpstr>
      <vt:lpstr>Arial Narrow</vt:lpstr>
      <vt:lpstr>Open Sans</vt:lpstr>
      <vt:lpstr>Open Sans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Crystal Giraldo</dc:creator>
  <cp:lastModifiedBy>Magana, Cesar</cp:lastModifiedBy>
  <cp:revision>11</cp:revision>
  <dcterms:created xsi:type="dcterms:W3CDTF">2018-11-09T21:25:09Z</dcterms:created>
  <dcterms:modified xsi:type="dcterms:W3CDTF">2026-04-25T18:10:28Z</dcterms:modified>
</cp:coreProperties>
</file>